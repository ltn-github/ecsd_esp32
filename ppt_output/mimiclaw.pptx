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&lt;!--pageType:final--&gt;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accent-bar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 rotWithShape="1">
            <a:gsLst>
              <a:gs pos="0">
                <a:srgbClr val="00D4AA">
                  <a:alpha val="0"/>
                </a:srgbClr>
              </a:gs>
              <a:gs pos="30000">
                <a:srgbClr val="00D4AA"/>
              </a:gs>
              <a:gs pos="70000">
                <a:srgbClr val="00D4AA"/>
              </a:gs>
              <a:gs pos="100000">
                <a:srgbClr val="00D4AA">
                  <a:alpha val="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left-glow"/>
          <p:cNvSpPr/>
          <p:nvPr/>
        </p:nvSpPr>
        <p:spPr>
          <a:xfrm>
            <a:off x="0" y="0"/>
            <a:ext cx="476250" cy="6858000"/>
          </a:xfrm>
          <a:prstGeom prst="rect">
            <a:avLst/>
          </a:prstGeom>
          <a:gradFill rotWithShape="1">
            <a:gsLst>
              <a:gs pos="0">
                <a:srgbClr val="00D4AA">
                  <a:alpha val="8235"/>
                </a:srgbClr>
              </a:gs>
              <a:gs pos="100000">
                <a:srgbClr val="00D4AA">
                  <a:alpha val="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dsl:chip-icon|i=fas:microchip" descr="tmp6cubo1w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0" y="1333500"/>
            <a:ext cx="1143000" cy="1143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5" name="dsl:main-title|s=$coverTitle"/>
          <p:cNvSpPr txBox="1"/>
          <p:nvPr/>
        </p:nvSpPr>
        <p:spPr>
          <a:xfrm>
            <a:off x="1333500" y="2476500"/>
            <a:ext cx="9525000" cy="1143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3600" noProof="1">
                <a:solidFill>
                  <a:srgbClr val="F8FAFC"/>
                </a:solidFill>
                <a:latin typeface="Oranienbaum"/>
                <a:ea typeface="siyuanSongti"/>
              </a:rPr>
              <a:t>基于ESP32-S3的存量家电</a:t>
            </a:r>
          </a:p>
          <a:p>
            <a:pPr algn="ctr"/>
            <a:r>
              <a:rPr sz="3600" noProof="1">
                <a:solidFill>
                  <a:srgbClr val="F8FAFC"/>
                </a:solidFill>
                <a:latin typeface="Oranienbaum"/>
                <a:ea typeface="siyuanSongti"/>
              </a:rPr>
              <a:t>AI智能体统一管控系统</a:t>
            </a:r>
          </a:p>
        </p:txBody>
      </p:sp>
      <p:sp>
        <p:nvSpPr>
          <p:cNvPr id="6" name="dsl:accent-line"/>
          <p:cNvSpPr/>
          <p:nvPr/>
        </p:nvSpPr>
        <p:spPr>
          <a:xfrm>
            <a:off x="5143500" y="3810000"/>
            <a:ext cx="1905000" cy="28575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subtitle|s=$subtitle"/>
          <p:cNvSpPr txBox="1"/>
          <p:nvPr/>
        </p:nvSpPr>
        <p:spPr>
          <a:xfrm>
            <a:off x="2286000" y="4000500"/>
            <a:ext cx="7620000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650" noProof="1">
                <a:solidFill>
                  <a:srgbClr val="94A3B8"/>
                </a:solidFill>
                <a:latin typeface="Oranienbaum"/>
                <a:ea typeface="siyuanSongti"/>
              </a:rPr>
              <a:t>MimiClaw — $5芯片上的嵌入式AI助理</a:t>
            </a:r>
          </a:p>
        </p:txBody>
      </p:sp>
      <p:sp>
        <p:nvSpPr>
          <p:cNvPr id="8" name="dsl:badge-bg"/>
          <p:cNvSpPr/>
          <p:nvPr/>
        </p:nvSpPr>
        <p:spPr>
          <a:xfrm>
            <a:off x="3238500" y="4953000"/>
            <a:ext cx="5715000" cy="476250"/>
          </a:xfrm>
          <a:prstGeom prst="rect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18823"/>
              </a:srgbClr>
            </a:solidFill>
            <a:prstDash val="solid"/>
          </a:ln>
          <a:effectLst>
            <a:outerShdw blurRad="152400" dist="50800" dir="0">
              <a:srgbClr val="000000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badge-text|s=$caption"/>
          <p:cNvSpPr txBox="1"/>
          <p:nvPr/>
        </p:nvSpPr>
        <p:spPr>
          <a:xfrm>
            <a:off x="3238500" y="4953000"/>
            <a:ext cx="571500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050" noProof="1">
                <a:solidFill>
                  <a:srgbClr val="94A3B8"/>
                </a:solidFill>
                <a:latin typeface="Oranienbaum"/>
                <a:ea typeface="siyuanSongti"/>
              </a:rPr>
              <a:t>全国大学生嵌入式芯片与系统设计竞赛  |  乐鑫科技  |  选题五</a:t>
            </a:r>
          </a:p>
        </p:txBody>
      </p:sp>
      <p:sp>
        <p:nvSpPr>
          <p:cNvPr id="10" name="dsl:bottom-line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ottom-tag|s=$caption"/>
          <p:cNvSpPr txBox="1"/>
          <p:nvPr/>
        </p:nvSpPr>
        <p:spPr>
          <a:xfrm>
            <a:off x="571500" y="6572250"/>
            <a:ext cx="1905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94A3B8"/>
                </a:solidFill>
                <a:latin typeface="Oranienbaum"/>
                <a:ea typeface="siyuanSongti"/>
              </a:rPr>
              <a:t>MIMICLAW</a:t>
            </a:r>
          </a:p>
        </p:txBody>
      </p:sp>
      <p:sp>
        <p:nvSpPr>
          <p:cNvPr id="12" name="dsl:bottom-page|s=$caption"/>
          <p:cNvSpPr txBox="1"/>
          <p:nvPr/>
        </p:nvSpPr>
        <p:spPr>
          <a:xfrm>
            <a:off x="10477500" y="657225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1050" noProof="1">
                <a:solidFill>
                  <a:srgbClr val="94A3B8"/>
                </a:solidFill>
                <a:latin typeface="Oranienbaum"/>
                <a:ea typeface="siyuanSongti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accent-bar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 rotWithShape="1">
            <a:gsLst>
              <a:gs pos="0">
                <a:srgbClr val="00D4AA">
                  <a:alpha val="0"/>
                </a:srgbClr>
              </a:gs>
              <a:gs pos="30000">
                <a:srgbClr val="00D4AA"/>
              </a:gs>
              <a:gs pos="70000">
                <a:srgbClr val="00D4AA"/>
              </a:gs>
              <a:gs pos="100000">
                <a:srgbClr val="00D4AA">
                  <a:alpha val="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corner-bar"/>
          <p:cNvSpPr/>
          <p:nvPr/>
        </p:nvSpPr>
        <p:spPr>
          <a:xfrm>
            <a:off x="571500" y="476250"/>
            <a:ext cx="38100" cy="3810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page-title|s=$title"/>
          <p:cNvSpPr txBox="1"/>
          <p:nvPr/>
        </p:nvSpPr>
        <p:spPr>
          <a:xfrm>
            <a:off x="762000" y="457200"/>
            <a:ext cx="571500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400" noProof="1">
                <a:solidFill>
                  <a:srgbClr val="F8FAFC"/>
                </a:solidFill>
                <a:latin typeface="Oranienbaum"/>
                <a:ea typeface="siyuanSongti"/>
              </a:rPr>
              <a:t>痛点：智能家居的现实困境</a:t>
            </a:r>
          </a:p>
        </p:txBody>
      </p:sp>
      <p:sp>
        <p:nvSpPr>
          <p:cNvPr id="5" name="dsl:card-bg-1"/>
          <p:cNvSpPr/>
          <p:nvPr/>
        </p:nvSpPr>
        <p:spPr>
          <a:xfrm>
            <a:off x="571500" y="1238250"/>
            <a:ext cx="3429000" cy="4572000"/>
          </a:xfrm>
          <a:prstGeom prst="rect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18823"/>
              </a:srgbClr>
            </a:solidFill>
            <a:prstDash val="solid"/>
          </a:ln>
          <a:effectLst>
            <a:outerShdw blurRad="152400" dist="50800" dir="0">
              <a:srgbClr val="000000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dsl:card-icon-1|i=fas:ban" descr="tmp7beb70x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28750"/>
            <a:ext cx="381000" cy="381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7" name="dsl:card-title-1"/>
          <p:cNvSpPr txBox="1"/>
          <p:nvPr/>
        </p:nvSpPr>
        <p:spPr>
          <a:xfrm>
            <a:off x="762000" y="1905000"/>
            <a:ext cx="3048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800" noProof="1">
                <a:solidFill>
                  <a:srgbClr val="F8FAFC"/>
                </a:solidFill>
                <a:latin typeface="Oranienbaum"/>
                <a:ea typeface="siyuanSongti"/>
              </a:rPr>
              <a:t>生态割据</a:t>
            </a:r>
          </a:p>
        </p:txBody>
      </p:sp>
      <p:sp>
        <p:nvSpPr>
          <p:cNvPr id="8" name="dsl:card-divider-1"/>
          <p:cNvSpPr/>
          <p:nvPr/>
        </p:nvSpPr>
        <p:spPr>
          <a:xfrm>
            <a:off x="762000" y="2333625"/>
            <a:ext cx="571500" cy="1905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card-body-1|s=$body"/>
          <p:cNvSpPr txBox="1"/>
          <p:nvPr/>
        </p:nvSpPr>
        <p:spPr>
          <a:xfrm>
            <a:off x="762000" y="2524125"/>
            <a:ext cx="3048000" cy="3048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不同品牌各自封闭，APP互不联通。用户需要安装多个独立应用，体验碎片化。</a:t>
            </a:r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• 小米、华为、苹果等生态互相隔离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• 设备无法跨品牌协同工作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• 用户被迫在多个APP间切换</a:t>
            </a:r>
          </a:p>
        </p:txBody>
      </p:sp>
      <p:sp>
        <p:nvSpPr>
          <p:cNvPr id="10" name="dsl:card-bg-2"/>
          <p:cNvSpPr/>
          <p:nvPr/>
        </p:nvSpPr>
        <p:spPr>
          <a:xfrm>
            <a:off x="4381500" y="1238250"/>
            <a:ext cx="3429000" cy="4572000"/>
          </a:xfrm>
          <a:prstGeom prst="rect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18823"/>
              </a:srgbClr>
            </a:solidFill>
            <a:prstDash val="solid"/>
          </a:ln>
          <a:effectLst>
            <a:outerShdw blurRad="152400" dist="50800" dir="0">
              <a:srgbClr val="000000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dsl:card-icon-2|i=fas:eye-slash" descr="tmp7beb70x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28750"/>
            <a:ext cx="381000" cy="381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2" name="dsl:card-title-2"/>
          <p:cNvSpPr txBox="1"/>
          <p:nvPr/>
        </p:nvSpPr>
        <p:spPr>
          <a:xfrm>
            <a:off x="4572000" y="1905000"/>
            <a:ext cx="3048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800" noProof="1">
                <a:solidFill>
                  <a:srgbClr val="F8FAFC"/>
                </a:solidFill>
                <a:latin typeface="Oranienbaum"/>
                <a:ea typeface="siyuanSongti"/>
              </a:rPr>
              <a:t>存量盲区</a:t>
            </a:r>
          </a:p>
        </p:txBody>
      </p:sp>
      <p:sp>
        <p:nvSpPr>
          <p:cNvPr id="13" name="dsl:card-divider-2"/>
          <p:cNvSpPr/>
          <p:nvPr/>
        </p:nvSpPr>
        <p:spPr>
          <a:xfrm>
            <a:off x="4572000" y="2333625"/>
            <a:ext cx="571500" cy="1905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card-body-2|s=$body"/>
          <p:cNvSpPr txBox="1"/>
          <p:nvPr/>
        </p:nvSpPr>
        <p:spPr>
          <a:xfrm>
            <a:off x="4572000" y="2524125"/>
            <a:ext cx="3048000" cy="3048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红外空调、普通灯具等传统设备无法智能化，被排除在智能家居之外。</a:t>
            </a:r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• 存量家电占家庭设备80%以上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• 红外遥控设备无法联网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• 传统灯具缺乏智能接口</a:t>
            </a:r>
          </a:p>
        </p:txBody>
      </p:sp>
      <p:sp>
        <p:nvSpPr>
          <p:cNvPr id="15" name="dsl:card-bg-3"/>
          <p:cNvSpPr/>
          <p:nvPr/>
        </p:nvSpPr>
        <p:spPr>
          <a:xfrm>
            <a:off x="8191500" y="1238250"/>
            <a:ext cx="3429000" cy="4572000"/>
          </a:xfrm>
          <a:prstGeom prst="rect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18823"/>
              </a:srgbClr>
            </a:solidFill>
            <a:prstDash val="solid"/>
          </a:ln>
          <a:effectLst>
            <a:outerShdw blurRad="152400" dist="50800" dir="0">
              <a:srgbClr val="000000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sl:card-icon-3|i=fas:coins" descr="tmp7beb70x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1428750"/>
            <a:ext cx="381000" cy="381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7" name="dsl:card-title-3"/>
          <p:cNvSpPr txBox="1"/>
          <p:nvPr/>
        </p:nvSpPr>
        <p:spPr>
          <a:xfrm>
            <a:off x="8382000" y="1905000"/>
            <a:ext cx="3048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800" noProof="1">
                <a:solidFill>
                  <a:srgbClr val="F8FAFC"/>
                </a:solidFill>
                <a:latin typeface="Oranienbaum"/>
                <a:ea typeface="siyuanSongti"/>
              </a:rPr>
              <a:t>高成本门槛</a:t>
            </a:r>
          </a:p>
        </p:txBody>
      </p:sp>
      <p:sp>
        <p:nvSpPr>
          <p:cNvPr id="18" name="dsl:card-divider-3"/>
          <p:cNvSpPr/>
          <p:nvPr/>
        </p:nvSpPr>
        <p:spPr>
          <a:xfrm>
            <a:off x="8382000" y="2333625"/>
            <a:ext cx="571500" cy="1905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card-body-3|s=$body"/>
          <p:cNvSpPr txBox="1"/>
          <p:nvPr/>
        </p:nvSpPr>
        <p:spPr>
          <a:xfrm>
            <a:off x="8382000" y="2524125"/>
            <a:ext cx="3048000" cy="3048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全量更换智能设备需数千元，普通家庭难以承受。</a:t>
            </a:r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• 智能空调均价3000+元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• 智能灯具、开关全屋更换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• 安装调试人工费用高昂</a:t>
            </a:r>
          </a:p>
        </p:txBody>
      </p:sp>
      <p:sp>
        <p:nvSpPr>
          <p:cNvPr id="20" name="dsl:bottom-line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bottom-tag|s=$caption"/>
          <p:cNvSpPr txBox="1"/>
          <p:nvPr/>
        </p:nvSpPr>
        <p:spPr>
          <a:xfrm>
            <a:off x="571500" y="6572250"/>
            <a:ext cx="1905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94A3B8"/>
                </a:solidFill>
                <a:latin typeface="Oranienbaum"/>
                <a:ea typeface="siyuanSongti"/>
              </a:rPr>
              <a:t>MIMICLAW</a:t>
            </a:r>
          </a:p>
        </p:txBody>
      </p:sp>
      <p:sp>
        <p:nvSpPr>
          <p:cNvPr id="22" name="dsl:bottom-page|s=$caption"/>
          <p:cNvSpPr txBox="1"/>
          <p:nvPr/>
        </p:nvSpPr>
        <p:spPr>
          <a:xfrm>
            <a:off x="10477500" y="657225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1050" noProof="1">
                <a:solidFill>
                  <a:srgbClr val="94A3B8"/>
                </a:solidFill>
                <a:latin typeface="Oranienbaum"/>
                <a:ea typeface="siyuanSongti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accent-bar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 rotWithShape="1">
            <a:gsLst>
              <a:gs pos="0">
                <a:srgbClr val="00D4AA">
                  <a:alpha val="0"/>
                </a:srgbClr>
              </a:gs>
              <a:gs pos="30000">
                <a:srgbClr val="00D4AA"/>
              </a:gs>
              <a:gs pos="70000">
                <a:srgbClr val="00D4AA"/>
              </a:gs>
              <a:gs pos="100000">
                <a:srgbClr val="00D4AA">
                  <a:alpha val="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corner-bar"/>
          <p:cNvSpPr/>
          <p:nvPr/>
        </p:nvSpPr>
        <p:spPr>
          <a:xfrm>
            <a:off x="571500" y="476250"/>
            <a:ext cx="38100" cy="3810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page-title|s=$title"/>
          <p:cNvSpPr txBox="1"/>
          <p:nvPr/>
        </p:nvSpPr>
        <p:spPr>
          <a:xfrm>
            <a:off x="762000" y="457200"/>
            <a:ext cx="571500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400" noProof="1">
                <a:solidFill>
                  <a:srgbClr val="F8FAFC"/>
                </a:solidFill>
                <a:latin typeface="Oranienbaum"/>
                <a:ea typeface="siyuanSongti"/>
              </a:rPr>
              <a:t>我们的方案</a:t>
            </a:r>
          </a:p>
        </p:txBody>
      </p:sp>
      <p:sp>
        <p:nvSpPr>
          <p:cNvPr id="5" name="dsl:left-body|s=$body"/>
          <p:cNvSpPr txBox="1"/>
          <p:nvPr/>
        </p:nvSpPr>
        <p:spPr>
          <a:xfrm>
            <a:off x="571500" y="1143000"/>
            <a:ext cx="5524500" cy="2667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b="1" sz="1350" noProof="1">
                <a:solidFill>
                  <a:srgbClr val="00D4AA"/>
                </a:solidFill>
                <a:latin typeface="Oranienbaum"/>
                <a:ea typeface="siyuanSongti"/>
              </a:rPr>
              <a:t>一块ESP32-S3芯片（$5）+ 嵌入式AI智能体 + 简单外设 = 全屋智能化</a:t>
            </a:r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用户在飞书群说一句话 → AI理解意图 → 自动控制家电</a:t>
            </a:r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• </a:t>
            </a:r>
            <a:r>
              <a:rPr b="1" sz="1350" noProof="1">
                <a:solidFill>
                  <a:srgbClr val="F8FAFC"/>
                </a:solidFill>
                <a:latin typeface="Oranienbaum"/>
                <a:ea typeface="siyuanSongti"/>
              </a:rPr>
              <a:t>不换任何家电</a:t>
            </a:r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：兼容存量红外/继电器设备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• </a:t>
            </a:r>
            <a:r>
              <a:rPr b="1" sz="1350" noProof="1">
                <a:solidFill>
                  <a:srgbClr val="F8FAFC"/>
                </a:solidFill>
                <a:latin typeface="Oranienbaum"/>
                <a:ea typeface="siyuanSongti"/>
              </a:rPr>
              <a:t>总硬件成本约100元</a:t>
            </a:r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：远低于全量更换方案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• </a:t>
            </a:r>
            <a:r>
              <a:rPr b="1" sz="1350" noProof="1">
                <a:solidFill>
                  <a:srgbClr val="F8FAFC"/>
                </a:solidFill>
                <a:latin typeface="Oranienbaum"/>
                <a:ea typeface="siyuanSongti"/>
              </a:rPr>
              <a:t>自然语言交互</a:t>
            </a:r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：无需学习复杂APP操作</a:t>
            </a:r>
          </a:p>
        </p:txBody>
      </p:sp>
      <p:sp>
        <p:nvSpPr>
          <p:cNvPr id="6" name="dsl:kpi-bg"/>
          <p:cNvSpPr/>
          <p:nvPr/>
        </p:nvSpPr>
        <p:spPr>
          <a:xfrm>
            <a:off x="571500" y="4000500"/>
            <a:ext cx="5715000" cy="952500"/>
          </a:xfrm>
          <a:prstGeom prst="rect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18823"/>
              </a:srgbClr>
            </a:solidFill>
            <a:prstDash val="solid"/>
          </a:ln>
          <a:effectLst>
            <a:outerShdw blurRad="152400" dist="50800" dir="0">
              <a:srgbClr val="000000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kpi-number|s=$kpiAccent"/>
          <p:cNvSpPr txBox="1"/>
          <p:nvPr/>
        </p:nvSpPr>
        <p:spPr>
          <a:xfrm>
            <a:off x="762000" y="4048125"/>
            <a:ext cx="1571625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3600" noProof="1">
                <a:solidFill>
                  <a:srgbClr val="F59E0B"/>
                </a:solidFill>
                <a:latin typeface="Oranienbaum"/>
                <a:ea typeface="siyuanSongti"/>
              </a:rPr>
              <a:t>~100元</a:t>
            </a:r>
          </a:p>
        </p:txBody>
      </p:sp>
      <p:sp>
        <p:nvSpPr>
          <p:cNvPr id="8" name="dsl:kpi-label|s=$caption"/>
          <p:cNvSpPr txBox="1"/>
          <p:nvPr/>
        </p:nvSpPr>
        <p:spPr>
          <a:xfrm>
            <a:off x="762000" y="4667250"/>
            <a:ext cx="1524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94A3B8"/>
                </a:solidFill>
                <a:latin typeface="Oranienbaum"/>
                <a:ea typeface="siyuanSongti"/>
              </a:rPr>
              <a:t>总硬件成本</a:t>
            </a:r>
          </a:p>
        </p:txBody>
      </p:sp>
      <p:sp>
        <p:nvSpPr>
          <p:cNvPr id="9" name="dsl:kpi-divider"/>
          <p:cNvSpPr/>
          <p:nvPr/>
        </p:nvSpPr>
        <p:spPr>
          <a:xfrm>
            <a:off x="2333625" y="4191000"/>
            <a:ext cx="9525" cy="571500"/>
          </a:xfrm>
          <a:prstGeom prst="rect">
            <a:avLst/>
          </a:prstGeom>
          <a:solidFill>
            <a:srgbClr val="FFFFFF">
              <a:alpha val="1882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kpi-number-2|s=$kpi"/>
          <p:cNvSpPr txBox="1"/>
          <p:nvPr/>
        </p:nvSpPr>
        <p:spPr>
          <a:xfrm>
            <a:off x="2571750" y="4048125"/>
            <a:ext cx="1524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3600" noProof="1">
                <a:solidFill>
                  <a:srgbClr val="00D4AA"/>
                </a:solidFill>
                <a:latin typeface="Oranienbaum"/>
                <a:ea typeface="siyuanSongti"/>
              </a:rPr>
              <a:t>$5</a:t>
            </a:r>
          </a:p>
        </p:txBody>
      </p:sp>
      <p:sp>
        <p:nvSpPr>
          <p:cNvPr id="11" name="dsl:kpi-label-2|s=$caption"/>
          <p:cNvSpPr txBox="1"/>
          <p:nvPr/>
        </p:nvSpPr>
        <p:spPr>
          <a:xfrm>
            <a:off x="2571750" y="4667250"/>
            <a:ext cx="1524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94A3B8"/>
                </a:solidFill>
                <a:latin typeface="Oranienbaum"/>
                <a:ea typeface="siyuanSongti"/>
              </a:rPr>
              <a:t>核心芯片</a:t>
            </a:r>
          </a:p>
        </p:txBody>
      </p:sp>
      <p:sp>
        <p:nvSpPr>
          <p:cNvPr id="12" name="dsl:kpi-divider-2"/>
          <p:cNvSpPr/>
          <p:nvPr/>
        </p:nvSpPr>
        <p:spPr>
          <a:xfrm>
            <a:off x="4191000" y="4191000"/>
            <a:ext cx="9525" cy="571500"/>
          </a:xfrm>
          <a:prstGeom prst="rect">
            <a:avLst/>
          </a:prstGeom>
          <a:solidFill>
            <a:srgbClr val="FFFFFF">
              <a:alpha val="1882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kpi-number-3|s=$kpi"/>
          <p:cNvSpPr txBox="1"/>
          <p:nvPr/>
        </p:nvSpPr>
        <p:spPr>
          <a:xfrm>
            <a:off x="4381500" y="4048125"/>
            <a:ext cx="17145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3600" noProof="1">
                <a:solidFill>
                  <a:srgbClr val="00D4AA"/>
                </a:solidFill>
                <a:latin typeface="Oranienbaum"/>
                <a:ea typeface="siyuanSongti"/>
              </a:rPr>
              <a:t>0元</a:t>
            </a:r>
          </a:p>
        </p:txBody>
      </p:sp>
      <p:sp>
        <p:nvSpPr>
          <p:cNvPr id="14" name="dsl:kpi-label-3|s=$caption"/>
          <p:cNvSpPr txBox="1"/>
          <p:nvPr/>
        </p:nvSpPr>
        <p:spPr>
          <a:xfrm>
            <a:off x="4381500" y="4667250"/>
            <a:ext cx="1714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94A3B8"/>
                </a:solidFill>
                <a:latin typeface="Oranienbaum"/>
                <a:ea typeface="siyuanSongti"/>
              </a:rPr>
              <a:t>设备更换成本</a:t>
            </a:r>
          </a:p>
        </p:txBody>
      </p:sp>
      <p:sp>
        <p:nvSpPr>
          <p:cNvPr id="15" name="dsl:flow-title"/>
          <p:cNvSpPr txBox="1"/>
          <p:nvPr/>
        </p:nvSpPr>
        <p:spPr>
          <a:xfrm>
            <a:off x="6667500" y="1143000"/>
            <a:ext cx="4953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94A3B8"/>
                </a:solidFill>
                <a:latin typeface="Oranienbaum"/>
                <a:ea typeface="siyuanSongti"/>
              </a:rPr>
              <a:t>系统架构流程</a:t>
            </a:r>
          </a:p>
        </p:txBody>
      </p:sp>
      <p:sp>
        <p:nvSpPr>
          <p:cNvPr id="16" name="dsl:flow-user"/>
          <p:cNvSpPr/>
          <p:nvPr/>
        </p:nvSpPr>
        <p:spPr>
          <a:xfrm>
            <a:off x="6667500" y="1619250"/>
            <a:ext cx="1333500" cy="476250"/>
          </a:xfrm>
          <a:prstGeom prst="rect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00D4AA"/>
            </a:solidFill>
            <a:prstDash val="solid"/>
          </a:ln>
          <a:effectLst>
            <a:outerShdw blurRad="152400" dist="50800" dir="0">
              <a:srgbClr val="000000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flow-user-text"/>
          <p:cNvSpPr txBox="1"/>
          <p:nvPr/>
        </p:nvSpPr>
        <p:spPr>
          <a:xfrm>
            <a:off x="6667500" y="1619250"/>
            <a:ext cx="1333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200" noProof="1">
                <a:solidFill>
                  <a:srgbClr val="F8FAFC"/>
                </a:solidFill>
                <a:latin typeface="Oranienbaum"/>
                <a:ea typeface="siyuanSongti"/>
              </a:rPr>
              <a:t>用户</a:t>
            </a:r>
          </a:p>
        </p:txBody>
      </p:sp>
      <p:cxnSp>
        <p:nvCxnSpPr>
          <p:cNvPr id="18" name="dsl:arrow-1"/>
          <p:cNvCxnSpPr/>
          <p:nvPr/>
        </p:nvCxnSpPr>
        <p:spPr>
          <a:xfrm>
            <a:off x="8001000" y="1857375"/>
            <a:ext cx="571500" cy="0"/>
          </a:xfrm>
          <a:prstGeom prst="straightConnector1">
            <a:avLst/>
          </a:prstGeom>
          <a:ln w="25400">
            <a:solidFill>
              <a:srgbClr val="00D4A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sl:flow-feishu"/>
          <p:cNvSpPr/>
          <p:nvPr/>
        </p:nvSpPr>
        <p:spPr>
          <a:xfrm>
            <a:off x="8572500" y="1619250"/>
            <a:ext cx="1333500" cy="476250"/>
          </a:xfrm>
          <a:prstGeom prst="rect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00D4AA"/>
            </a:solidFill>
            <a:prstDash val="solid"/>
          </a:ln>
          <a:effectLst>
            <a:outerShdw blurRad="152400" dist="50800" dir="0">
              <a:srgbClr val="000000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flow-feishu-text"/>
          <p:cNvSpPr txBox="1"/>
          <p:nvPr/>
        </p:nvSpPr>
        <p:spPr>
          <a:xfrm>
            <a:off x="8572500" y="1619250"/>
            <a:ext cx="1333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200" noProof="1">
                <a:solidFill>
                  <a:srgbClr val="F8FAFC"/>
                </a:solidFill>
                <a:latin typeface="Oranienbaum"/>
                <a:ea typeface="siyuanSongti"/>
              </a:rPr>
              <a:t>飞书</a:t>
            </a:r>
          </a:p>
        </p:txBody>
      </p:sp>
      <p:cxnSp>
        <p:nvCxnSpPr>
          <p:cNvPr id="21" name="dsl:arrow-2"/>
          <p:cNvCxnSpPr/>
          <p:nvPr/>
        </p:nvCxnSpPr>
        <p:spPr>
          <a:xfrm>
            <a:off x="9906000" y="1857375"/>
            <a:ext cx="571500" cy="0"/>
          </a:xfrm>
          <a:prstGeom prst="straightConnector1">
            <a:avLst/>
          </a:prstGeom>
          <a:ln w="25400">
            <a:solidFill>
              <a:srgbClr val="00D4A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sl:flow-esp32"/>
          <p:cNvSpPr/>
          <p:nvPr/>
        </p:nvSpPr>
        <p:spPr>
          <a:xfrm>
            <a:off x="10477500" y="1619250"/>
            <a:ext cx="1143000" cy="47625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l:flow-esp32-text"/>
          <p:cNvSpPr txBox="1"/>
          <p:nvPr/>
        </p:nvSpPr>
        <p:spPr>
          <a:xfrm>
            <a:off x="10477500" y="1619250"/>
            <a:ext cx="1143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200" noProof="1">
                <a:solidFill>
                  <a:srgbClr val="000000"/>
                </a:solidFill>
                <a:latin typeface="Oranienbaum"/>
                <a:ea typeface="siyuanSongti"/>
              </a:rPr>
              <a:t>ESP32-S3</a:t>
            </a:r>
          </a:p>
        </p:txBody>
      </p:sp>
      <p:cxnSp>
        <p:nvCxnSpPr>
          <p:cNvPr id="24" name="dsl:arrow-3"/>
          <p:cNvCxnSpPr/>
          <p:nvPr/>
        </p:nvCxnSpPr>
        <p:spPr>
          <a:xfrm>
            <a:off x="11049000" y="2095500"/>
            <a:ext cx="0" cy="571500"/>
          </a:xfrm>
          <a:prstGeom prst="straightConnector1">
            <a:avLst/>
          </a:prstGeom>
          <a:ln w="25400">
            <a:solidFill>
              <a:srgbClr val="00D4A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dsl:flow-llm"/>
          <p:cNvSpPr/>
          <p:nvPr/>
        </p:nvSpPr>
        <p:spPr>
          <a:xfrm>
            <a:off x="9906000" y="2667000"/>
            <a:ext cx="1714500" cy="476250"/>
          </a:xfrm>
          <a:prstGeom prst="rect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F59E0B"/>
            </a:solidFill>
            <a:prstDash val="solid"/>
          </a:ln>
          <a:effectLst>
            <a:outerShdw blurRad="152400" dist="50800" dir="0">
              <a:srgbClr val="000000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l:flow-llm-text"/>
          <p:cNvSpPr txBox="1"/>
          <p:nvPr/>
        </p:nvSpPr>
        <p:spPr>
          <a:xfrm>
            <a:off x="9906000" y="2667000"/>
            <a:ext cx="1714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200" noProof="1">
                <a:solidFill>
                  <a:srgbClr val="F8FAFC"/>
                </a:solidFill>
                <a:latin typeface="Oranienbaum"/>
                <a:ea typeface="siyuanSongti"/>
              </a:rPr>
              <a:t>大模型（LLM）</a:t>
            </a:r>
          </a:p>
        </p:txBody>
      </p:sp>
      <p:cxnSp>
        <p:nvCxnSpPr>
          <p:cNvPr id="27" name="dsl:arrow-4"/>
          <p:cNvCxnSpPr/>
          <p:nvPr/>
        </p:nvCxnSpPr>
        <p:spPr>
          <a:xfrm>
            <a:off x="10477500" y="3143250"/>
            <a:ext cx="0" cy="571500"/>
          </a:xfrm>
          <a:prstGeom prst="straightConnector1">
            <a:avLst/>
          </a:prstGeom>
          <a:ln w="25400">
            <a:solidFill>
              <a:srgbClr val="00D4A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sl:flow-device"/>
          <p:cNvSpPr/>
          <p:nvPr/>
        </p:nvSpPr>
        <p:spPr>
          <a:xfrm>
            <a:off x="9906000" y="3714750"/>
            <a:ext cx="1714500" cy="476250"/>
          </a:xfrm>
          <a:prstGeom prst="rect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00D4AA"/>
            </a:solidFill>
            <a:prstDash val="solid"/>
          </a:ln>
          <a:effectLst>
            <a:outerShdw blurRad="152400" dist="50800" dir="0">
              <a:srgbClr val="000000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sl:flow-device-text"/>
          <p:cNvSpPr txBox="1"/>
          <p:nvPr/>
        </p:nvSpPr>
        <p:spPr>
          <a:xfrm>
            <a:off x="9906000" y="3714750"/>
            <a:ext cx="1714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200" noProof="1">
                <a:solidFill>
                  <a:srgbClr val="F8FAFC"/>
                </a:solidFill>
                <a:latin typeface="Oranienbaum"/>
                <a:ea typeface="siyuanSongti"/>
              </a:rPr>
              <a:t>家电执行</a:t>
            </a:r>
          </a:p>
        </p:txBody>
      </p:sp>
      <p:sp>
        <p:nvSpPr>
          <p:cNvPr id="30" name="dsl:flow-desc"/>
          <p:cNvSpPr txBox="1"/>
          <p:nvPr/>
        </p:nvSpPr>
        <p:spPr>
          <a:xfrm>
            <a:off x="6667500" y="5143500"/>
            <a:ext cx="49530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94A3B8"/>
                </a:solidFill>
                <a:latin typeface="Oranienbaum"/>
                <a:ea typeface="siyuanSongti"/>
              </a:rPr>
              <a:t>① 用户在飞书群发送自然语言指令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94A3B8"/>
                </a:solidFill>
                <a:latin typeface="Oranienbaum"/>
                <a:ea typeface="siyuanSongti"/>
              </a:rPr>
              <a:t>② ESP32-S3 接收消息，调用大模型理解意图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94A3B8"/>
                </a:solidFill>
                <a:latin typeface="Oranienbaum"/>
                <a:ea typeface="siyuanSongti"/>
              </a:rPr>
              <a:t>③ 大模型选择工具（红外/继电器/GPIO）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94A3B8"/>
                </a:solidFill>
                <a:latin typeface="Oranienbaum"/>
                <a:ea typeface="siyuanSongti"/>
              </a:rPr>
              <a:t>④ 芯片端直接执行硬件操作，控制家电</a:t>
            </a:r>
          </a:p>
        </p:txBody>
      </p:sp>
      <p:sp>
        <p:nvSpPr>
          <p:cNvPr id="31" name="dsl:bottom-line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sl:bottom-tag|s=$caption"/>
          <p:cNvSpPr txBox="1"/>
          <p:nvPr/>
        </p:nvSpPr>
        <p:spPr>
          <a:xfrm>
            <a:off x="571500" y="6572250"/>
            <a:ext cx="1905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94A3B8"/>
                </a:solidFill>
                <a:latin typeface="Oranienbaum"/>
                <a:ea typeface="siyuanSongti"/>
              </a:rPr>
              <a:t>MIMICLAW</a:t>
            </a:r>
          </a:p>
        </p:txBody>
      </p:sp>
      <p:sp>
        <p:nvSpPr>
          <p:cNvPr id="33" name="dsl:bottom-page|s=$caption"/>
          <p:cNvSpPr txBox="1"/>
          <p:nvPr/>
        </p:nvSpPr>
        <p:spPr>
          <a:xfrm>
            <a:off x="10477500" y="657225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1050" noProof="1">
                <a:solidFill>
                  <a:srgbClr val="94A3B8"/>
                </a:solidFill>
                <a:latin typeface="Oranienbaum"/>
                <a:ea typeface="siyuanSongti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accent-bar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 rotWithShape="1">
            <a:gsLst>
              <a:gs pos="0">
                <a:srgbClr val="00D4AA">
                  <a:alpha val="0"/>
                </a:srgbClr>
              </a:gs>
              <a:gs pos="30000">
                <a:srgbClr val="00D4AA"/>
              </a:gs>
              <a:gs pos="70000">
                <a:srgbClr val="00D4AA"/>
              </a:gs>
              <a:gs pos="100000">
                <a:srgbClr val="00D4AA">
                  <a:alpha val="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corner-bar"/>
          <p:cNvSpPr/>
          <p:nvPr/>
        </p:nvSpPr>
        <p:spPr>
          <a:xfrm>
            <a:off x="571500" y="476250"/>
            <a:ext cx="38100" cy="3810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page-title|s=$title"/>
          <p:cNvSpPr txBox="1"/>
          <p:nvPr/>
        </p:nvSpPr>
        <p:spPr>
          <a:xfrm>
            <a:off x="762000" y="457200"/>
            <a:ext cx="666750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400" noProof="1">
                <a:solidFill>
                  <a:srgbClr val="F8FAFC"/>
                </a:solidFill>
                <a:latin typeface="Oranienbaum"/>
                <a:ea typeface="siyuanSongti"/>
              </a:rPr>
              <a:t>技术原理：MimiClaw 纯C嵌入式AI智能体</a:t>
            </a:r>
          </a:p>
        </p:txBody>
      </p:sp>
      <p:sp>
        <p:nvSpPr>
          <p:cNvPr id="5" name="dsl:left-body|s=$body"/>
          <p:cNvSpPr txBox="1"/>
          <p:nvPr/>
        </p:nvSpPr>
        <p:spPr>
          <a:xfrm>
            <a:off x="571500" y="1143000"/>
            <a:ext cx="5524500" cy="381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b="1" sz="1350" noProof="1">
                <a:solidFill>
                  <a:srgbClr val="00D4AA"/>
                </a:solidFill>
                <a:latin typeface="Oranienbaum"/>
                <a:ea typeface="siyuanSongti"/>
              </a:rPr>
              <a:t>MimiClaw</a:t>
            </a:r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：纯C语言嵌入式AI智能体框架，跑在ESP32-S3上</a:t>
            </a:r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b="1" sz="1350" noProof="1">
                <a:solidFill>
                  <a:srgbClr val="F8FAFC"/>
                </a:solidFill>
                <a:latin typeface="Oranienbaum"/>
                <a:ea typeface="siyuanSongti"/>
              </a:rPr>
              <a:t>ReAct Agent 循环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接收消息 → 调用大模型理解意图 → 选择工具 → 执行硬件操作</a:t>
            </a:r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b="1" sz="1350" noProof="1">
                <a:solidFill>
                  <a:srgbClr val="F8FAFC"/>
                </a:solidFill>
                <a:latin typeface="Oranienbaum"/>
                <a:ea typeface="siyuanSongti"/>
              </a:rPr>
              <a:t>双模型支持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支持 DeepSeek 和 Claude，运行时可切换</a:t>
            </a:r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b="1" sz="1350" noProof="1">
                <a:solidFill>
                  <a:srgbClr val="F8FAFC"/>
                </a:solidFill>
                <a:latin typeface="Oranienbaum"/>
                <a:ea typeface="siyuanSongti"/>
              </a:rPr>
              <a:t>端侧红外协议编码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红外协议在芯片端直接编码，</a:t>
            </a:r>
            <a:r>
              <a:rPr sz="1350" noProof="1">
                <a:solidFill>
                  <a:srgbClr val="F59E0B"/>
                </a:solidFill>
                <a:latin typeface="Oranienbaum"/>
                <a:ea typeface="siyuanSongti"/>
              </a:rPr>
              <a:t>不依赖云端码库</a:t>
            </a:r>
          </a:p>
        </p:txBody>
      </p:sp>
      <p:sp>
        <p:nvSpPr>
          <p:cNvPr id="6" name="dsl:right-title"/>
          <p:cNvSpPr txBox="1"/>
          <p:nvPr/>
        </p:nvSpPr>
        <p:spPr>
          <a:xfrm>
            <a:off x="6667500" y="1143000"/>
            <a:ext cx="4953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94A3B8"/>
                </a:solidFill>
                <a:latin typeface="Oranienbaum"/>
                <a:ea typeface="siyuanSongti"/>
              </a:rPr>
              <a:t>Agent 循环示意图</a:t>
            </a:r>
          </a:p>
        </p:txBody>
      </p:sp>
      <p:sp>
        <p:nvSpPr>
          <p:cNvPr id="7" name="dsl:loop-box-1"/>
          <p:cNvSpPr/>
          <p:nvPr/>
        </p:nvSpPr>
        <p:spPr>
          <a:xfrm>
            <a:off x="7048500" y="1619250"/>
            <a:ext cx="1714500" cy="476250"/>
          </a:xfrm>
          <a:prstGeom prst="rect">
            <a:avLst/>
          </a:prstGeom>
          <a:solidFill>
            <a:srgbClr val="FFFFFF">
              <a:alpha val="8235"/>
            </a:srgbClr>
          </a:solidFill>
          <a:ln w="25400">
            <a:solidFill>
              <a:srgbClr val="00D4AA"/>
            </a:solidFill>
            <a:prstDash val="solid"/>
          </a:ln>
          <a:effectLst>
            <a:outerShdw blurRad="152400" dist="50800" dir="0">
              <a:srgbClr val="000000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loop-text-1"/>
          <p:cNvSpPr txBox="1"/>
          <p:nvPr/>
        </p:nvSpPr>
        <p:spPr>
          <a:xfrm>
            <a:off x="7048500" y="1619250"/>
            <a:ext cx="1714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200" noProof="1">
                <a:solidFill>
                  <a:srgbClr val="F8FAFC"/>
                </a:solidFill>
                <a:latin typeface="Oranienbaum"/>
                <a:ea typeface="siyuanSongti"/>
              </a:rPr>
              <a:t>接收消息</a:t>
            </a:r>
          </a:p>
        </p:txBody>
      </p:sp>
      <p:cxnSp>
        <p:nvCxnSpPr>
          <p:cNvPr id="9" name="dsl:loop-arrow-1"/>
          <p:cNvCxnSpPr/>
          <p:nvPr/>
        </p:nvCxnSpPr>
        <p:spPr>
          <a:xfrm>
            <a:off x="8191500" y="2095500"/>
            <a:ext cx="0" cy="381000"/>
          </a:xfrm>
          <a:prstGeom prst="straightConnector1">
            <a:avLst/>
          </a:prstGeom>
          <a:ln w="25400">
            <a:solidFill>
              <a:srgbClr val="00D4A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sl:loop-box-2"/>
          <p:cNvSpPr/>
          <p:nvPr/>
        </p:nvSpPr>
        <p:spPr>
          <a:xfrm>
            <a:off x="7048500" y="2476500"/>
            <a:ext cx="1714500" cy="476250"/>
          </a:xfrm>
          <a:prstGeom prst="rect">
            <a:avLst/>
          </a:prstGeom>
          <a:solidFill>
            <a:srgbClr val="FFFFFF">
              <a:alpha val="8235"/>
            </a:srgbClr>
          </a:solidFill>
          <a:ln w="25400">
            <a:solidFill>
              <a:srgbClr val="00D4AA"/>
            </a:solidFill>
            <a:prstDash val="solid"/>
          </a:ln>
          <a:effectLst>
            <a:outerShdw blurRad="152400" dist="50800" dir="0">
              <a:srgbClr val="000000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loop-text-2"/>
          <p:cNvSpPr txBox="1"/>
          <p:nvPr/>
        </p:nvSpPr>
        <p:spPr>
          <a:xfrm>
            <a:off x="7048500" y="2476500"/>
            <a:ext cx="1714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200" noProof="1">
                <a:solidFill>
                  <a:srgbClr val="F8FAFC"/>
                </a:solidFill>
                <a:latin typeface="Oranienbaum"/>
                <a:ea typeface="siyuanSongti"/>
              </a:rPr>
              <a:t>LLM 理解意图</a:t>
            </a:r>
          </a:p>
        </p:txBody>
      </p:sp>
      <p:cxnSp>
        <p:nvCxnSpPr>
          <p:cNvPr id="12" name="dsl:loop-arrow-2"/>
          <p:cNvCxnSpPr/>
          <p:nvPr/>
        </p:nvCxnSpPr>
        <p:spPr>
          <a:xfrm>
            <a:off x="8191500" y="2952750"/>
            <a:ext cx="0" cy="381000"/>
          </a:xfrm>
          <a:prstGeom prst="straightConnector1">
            <a:avLst/>
          </a:prstGeom>
          <a:ln w="25400">
            <a:solidFill>
              <a:srgbClr val="00D4A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sl:loop-box-3"/>
          <p:cNvSpPr/>
          <p:nvPr/>
        </p:nvSpPr>
        <p:spPr>
          <a:xfrm>
            <a:off x="7048500" y="3333750"/>
            <a:ext cx="1714500" cy="476250"/>
          </a:xfrm>
          <a:prstGeom prst="rect">
            <a:avLst/>
          </a:prstGeom>
          <a:solidFill>
            <a:srgbClr val="FFFFFF">
              <a:alpha val="8235"/>
            </a:srgbClr>
          </a:solidFill>
          <a:ln w="25400">
            <a:solidFill>
              <a:srgbClr val="00D4AA"/>
            </a:solidFill>
            <a:prstDash val="solid"/>
          </a:ln>
          <a:effectLst>
            <a:outerShdw blurRad="152400" dist="50800" dir="0">
              <a:srgbClr val="000000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loop-text-3"/>
          <p:cNvSpPr txBox="1"/>
          <p:nvPr/>
        </p:nvSpPr>
        <p:spPr>
          <a:xfrm>
            <a:off x="7048500" y="3333750"/>
            <a:ext cx="1714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200" noProof="1">
                <a:solidFill>
                  <a:srgbClr val="F8FAFC"/>
                </a:solidFill>
                <a:latin typeface="Oranienbaum"/>
                <a:ea typeface="siyuanSongti"/>
              </a:rPr>
              <a:t>选择工具</a:t>
            </a:r>
          </a:p>
        </p:txBody>
      </p:sp>
      <p:cxnSp>
        <p:nvCxnSpPr>
          <p:cNvPr id="15" name="dsl:loop-arrow-3"/>
          <p:cNvCxnSpPr/>
          <p:nvPr/>
        </p:nvCxnSpPr>
        <p:spPr>
          <a:xfrm>
            <a:off x="8191500" y="3810000"/>
            <a:ext cx="0" cy="381000"/>
          </a:xfrm>
          <a:prstGeom prst="straightConnector1">
            <a:avLst/>
          </a:prstGeom>
          <a:ln w="25400">
            <a:solidFill>
              <a:srgbClr val="00D4A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sl:loop-box-4"/>
          <p:cNvSpPr/>
          <p:nvPr/>
        </p:nvSpPr>
        <p:spPr>
          <a:xfrm>
            <a:off x="7048500" y="4191000"/>
            <a:ext cx="1714500" cy="47625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loop-text-4"/>
          <p:cNvSpPr txBox="1"/>
          <p:nvPr/>
        </p:nvSpPr>
        <p:spPr>
          <a:xfrm>
            <a:off x="7048500" y="4191000"/>
            <a:ext cx="1714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200" noProof="1">
                <a:solidFill>
                  <a:srgbClr val="000000"/>
                </a:solidFill>
                <a:latin typeface="Oranienbaum"/>
                <a:ea typeface="siyuanSongti"/>
              </a:rPr>
              <a:t>执行硬件操作</a:t>
            </a:r>
          </a:p>
        </p:txBody>
      </p:sp>
      <p:cxnSp>
        <p:nvCxnSpPr>
          <p:cNvPr id="18" name="dsl:loop-arrow-return"/>
          <p:cNvCxnSpPr/>
          <p:nvPr/>
        </p:nvCxnSpPr>
        <p:spPr>
          <a:xfrm>
            <a:off x="9144000" y="2095500"/>
            <a:ext cx="952500" cy="2095500"/>
          </a:xfrm>
          <a:prstGeom prst="bentConnector3">
            <a:avLst/>
          </a:prstGeom>
          <a:ln w="25400">
            <a:solidFill>
              <a:srgbClr val="FFFFFF">
                <a:alpha val="18823"/>
              </a:srgbClr>
            </a:solidFill>
            <a:prstDash val="solid"/>
            <a:head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sl:loop-note"/>
          <p:cNvSpPr txBox="1"/>
          <p:nvPr/>
        </p:nvSpPr>
        <p:spPr>
          <a:xfrm>
            <a:off x="9144000" y="1524000"/>
            <a:ext cx="22860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94A3B8"/>
                </a:solidFill>
                <a:latin typeface="Oranienbaum"/>
                <a:ea typeface="siyuanSongti"/>
              </a:rPr>
              <a:t>循环最多10轮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94A3B8"/>
                </a:solidFill>
                <a:latin typeface="Oranienbaum"/>
                <a:ea typeface="siyuanSongti"/>
              </a:rPr>
              <a:t>直到 stop_reason = end_turn</a:t>
            </a:r>
          </a:p>
        </p:txBody>
      </p:sp>
      <p:sp>
        <p:nvSpPr>
          <p:cNvPr id="20" name="dsl:tool-title"/>
          <p:cNvSpPr txBox="1"/>
          <p:nvPr/>
        </p:nvSpPr>
        <p:spPr>
          <a:xfrm>
            <a:off x="6667500" y="4953000"/>
            <a:ext cx="4953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94A3B8"/>
                </a:solidFill>
                <a:latin typeface="Oranienbaum"/>
                <a:ea typeface="siyuanSongti"/>
              </a:rPr>
              <a:t>已注册工具列表</a:t>
            </a:r>
          </a:p>
        </p:txBody>
      </p:sp>
      <p:sp>
        <p:nvSpPr>
          <p:cNvPr id="21" name="dsl:tool-body"/>
          <p:cNvSpPr txBox="1"/>
          <p:nvPr/>
        </p:nvSpPr>
        <p:spPr>
          <a:xfrm>
            <a:off x="6667500" y="5334000"/>
            <a:ext cx="49530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F8FAFC"/>
                </a:solidFill>
                <a:latin typeface="Oranienbaum"/>
                <a:ea typeface="siyuanSongti"/>
              </a:rPr>
              <a:t>web_search | get_current_time | gpio_set/gpio_get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F8FAFC"/>
                </a:solidFill>
                <a:latin typeface="Oranienbaum"/>
                <a:ea typeface="siyuanSongti"/>
              </a:rPr>
              <a:t>ir_send / ir_receive | ws2812_on / ws2812_off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F8FAFC"/>
                </a:solidFill>
                <a:latin typeface="Oranienbaum"/>
                <a:ea typeface="siyuanSongti"/>
              </a:rPr>
              <a:t>file_read / file_write | cron_add / cron_list</a:t>
            </a:r>
          </a:p>
        </p:txBody>
      </p:sp>
      <p:sp>
        <p:nvSpPr>
          <p:cNvPr id="22" name="dsl:bottom-line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l:bottom-tag|s=$caption"/>
          <p:cNvSpPr txBox="1"/>
          <p:nvPr/>
        </p:nvSpPr>
        <p:spPr>
          <a:xfrm>
            <a:off x="571500" y="6572250"/>
            <a:ext cx="1905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94A3B8"/>
                </a:solidFill>
                <a:latin typeface="Oranienbaum"/>
                <a:ea typeface="siyuanSongti"/>
              </a:rPr>
              <a:t>MIMICLAW</a:t>
            </a:r>
          </a:p>
        </p:txBody>
      </p:sp>
      <p:sp>
        <p:nvSpPr>
          <p:cNvPr id="24" name="dsl:bottom-page|s=$caption"/>
          <p:cNvSpPr txBox="1"/>
          <p:nvPr/>
        </p:nvSpPr>
        <p:spPr>
          <a:xfrm>
            <a:off x="10477500" y="657225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1050" noProof="1">
                <a:solidFill>
                  <a:srgbClr val="94A3B8"/>
                </a:solidFill>
                <a:latin typeface="Oranienbaum"/>
                <a:ea typeface="siyuanSongti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accent-bar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 rotWithShape="1">
            <a:gsLst>
              <a:gs pos="0">
                <a:srgbClr val="00D4AA">
                  <a:alpha val="0"/>
                </a:srgbClr>
              </a:gs>
              <a:gs pos="30000">
                <a:srgbClr val="00D4AA"/>
              </a:gs>
              <a:gs pos="70000">
                <a:srgbClr val="00D4AA"/>
              </a:gs>
              <a:gs pos="100000">
                <a:srgbClr val="00D4AA">
                  <a:alpha val="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corner-bar"/>
          <p:cNvSpPr/>
          <p:nvPr/>
        </p:nvSpPr>
        <p:spPr>
          <a:xfrm>
            <a:off x="571500" y="476250"/>
            <a:ext cx="38100" cy="3810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page-title|s=$title"/>
          <p:cNvSpPr txBox="1"/>
          <p:nvPr/>
        </p:nvSpPr>
        <p:spPr>
          <a:xfrm>
            <a:off x="762000" y="457200"/>
            <a:ext cx="571500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400" noProof="1">
                <a:solidFill>
                  <a:srgbClr val="F8FAFC"/>
                </a:solidFill>
                <a:latin typeface="Oranienbaum"/>
                <a:ea typeface="siyuanSongti"/>
              </a:rPr>
              <a:t>硬件一览：约100元总成本</a:t>
            </a:r>
          </a:p>
        </p:txBody>
      </p:sp>
      <p:sp>
        <p:nvSpPr>
          <p:cNvPr id="5" name="dsl:card-bg-1"/>
          <p:cNvSpPr/>
          <p:nvPr/>
        </p:nvSpPr>
        <p:spPr>
          <a:xfrm>
            <a:off x="571500" y="1143000"/>
            <a:ext cx="3429000" cy="2476500"/>
          </a:xfrm>
          <a:prstGeom prst="rect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18823"/>
              </a:srgbClr>
            </a:solidFill>
            <a:prstDash val="solid"/>
          </a:ln>
          <a:effectLst>
            <a:outerShdw blurRad="152400" dist="50800" dir="0">
              <a:srgbClr val="000000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dsl:card-icon-1|i=fas:microchip" descr="tmpdonefsf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333500"/>
            <a:ext cx="457200" cy="4572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7" name="dsl:card-title-1"/>
          <p:cNvSpPr txBox="1"/>
          <p:nvPr/>
        </p:nvSpPr>
        <p:spPr>
          <a:xfrm>
            <a:off x="762000" y="1905000"/>
            <a:ext cx="3048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noProof="1">
                <a:solidFill>
                  <a:srgbClr val="F8FAFC"/>
                </a:solidFill>
                <a:latin typeface="Oranienbaum"/>
                <a:ea typeface="siyuanSongti"/>
              </a:rPr>
              <a:t>主控：ESP32-S3</a:t>
            </a:r>
          </a:p>
        </p:txBody>
      </p:sp>
      <p:sp>
        <p:nvSpPr>
          <p:cNvPr id="8" name="dsl:card-divider-1"/>
          <p:cNvSpPr/>
          <p:nvPr/>
        </p:nvSpPr>
        <p:spPr>
          <a:xfrm>
            <a:off x="762000" y="2305050"/>
            <a:ext cx="571500" cy="1905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card-body-1"/>
          <p:cNvSpPr txBox="1"/>
          <p:nvPr/>
        </p:nvSpPr>
        <p:spPr>
          <a:xfrm>
            <a:off x="762000" y="2438400"/>
            <a:ext cx="30480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94A3B8"/>
                </a:solidFill>
                <a:latin typeface="Oranienbaum"/>
                <a:ea typeface="siyuanSongti"/>
              </a:rPr>
              <a:t>16MB Flash + 8MB PSRAM</a:t>
            </a: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94A3B8"/>
                </a:solidFill>
                <a:latin typeface="Oranienbaum"/>
                <a:ea typeface="siyuanSongti"/>
              </a:rPr>
              <a:t>双核 240MHz Xtensa LX7</a:t>
            </a: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94A3B8"/>
                </a:solidFill>
                <a:latin typeface="Oranienbaum"/>
                <a:ea typeface="siyuanSongti"/>
              </a:rPr>
              <a:t>Wi-Fi + Bluetooth 5 LE</a:t>
            </a:r>
          </a:p>
        </p:txBody>
      </p:sp>
      <p:sp>
        <p:nvSpPr>
          <p:cNvPr id="10" name="dsl:card-bg-2"/>
          <p:cNvSpPr/>
          <p:nvPr/>
        </p:nvSpPr>
        <p:spPr>
          <a:xfrm>
            <a:off x="4381500" y="1143000"/>
            <a:ext cx="3429000" cy="2476500"/>
          </a:xfrm>
          <a:prstGeom prst="rect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18823"/>
              </a:srgbClr>
            </a:solidFill>
            <a:prstDash val="solid"/>
          </a:ln>
          <a:effectLst>
            <a:outerShdw blurRad="152400" dist="50800" dir="0">
              <a:srgbClr val="000000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dsl:card-icon-2|i=fas:tower-broadcast" descr="tmpdonefsf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33500"/>
            <a:ext cx="457200" cy="4572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2" name="dsl:card-title-2"/>
          <p:cNvSpPr txBox="1"/>
          <p:nvPr/>
        </p:nvSpPr>
        <p:spPr>
          <a:xfrm>
            <a:off x="4572000" y="1905000"/>
            <a:ext cx="3048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noProof="1">
                <a:solidFill>
                  <a:srgbClr val="F8FAFC"/>
                </a:solidFill>
                <a:latin typeface="Oranienbaum"/>
                <a:ea typeface="siyuanSongti"/>
              </a:rPr>
              <a:t>红外控制模块</a:t>
            </a:r>
          </a:p>
        </p:txBody>
      </p:sp>
      <p:sp>
        <p:nvSpPr>
          <p:cNvPr id="13" name="dsl:card-divider-2"/>
          <p:cNvSpPr/>
          <p:nvPr/>
        </p:nvSpPr>
        <p:spPr>
          <a:xfrm>
            <a:off x="4572000" y="2305050"/>
            <a:ext cx="571500" cy="1905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card-body-2"/>
          <p:cNvSpPr txBox="1"/>
          <p:nvPr/>
        </p:nvSpPr>
        <p:spPr>
          <a:xfrm>
            <a:off x="4572000" y="2438400"/>
            <a:ext cx="30480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94A3B8"/>
                </a:solidFill>
                <a:latin typeface="Oranienbaum"/>
                <a:ea typeface="siyuanSongti"/>
              </a:rPr>
              <a:t>红外发射管 + 接收头</a:t>
            </a: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94A3B8"/>
                </a:solidFill>
                <a:latin typeface="Oranienbaum"/>
                <a:ea typeface="siyuanSongti"/>
              </a:rPr>
              <a:t>支持美的/格力空调</a:t>
            </a: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94A3B8"/>
                </a:solidFill>
                <a:latin typeface="Oranienbaum"/>
                <a:ea typeface="siyuanSongti"/>
              </a:rPr>
              <a:t>支持红外学习（32组）</a:t>
            </a:r>
          </a:p>
        </p:txBody>
      </p:sp>
      <p:sp>
        <p:nvSpPr>
          <p:cNvPr id="15" name="dsl:card-bg-3"/>
          <p:cNvSpPr/>
          <p:nvPr/>
        </p:nvSpPr>
        <p:spPr>
          <a:xfrm>
            <a:off x="8191500" y="1143000"/>
            <a:ext cx="3429000" cy="2476500"/>
          </a:xfrm>
          <a:prstGeom prst="rect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18823"/>
              </a:srgbClr>
            </a:solidFill>
            <a:prstDash val="solid"/>
          </a:ln>
          <a:effectLst>
            <a:outerShdw blurRad="152400" dist="50800" dir="0">
              <a:srgbClr val="000000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sl:card-icon-3|i=fas:lightbulb" descr="tmpyytplm8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1333500"/>
            <a:ext cx="457200" cy="4572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7" name="dsl:card-title-3"/>
          <p:cNvSpPr txBox="1"/>
          <p:nvPr/>
        </p:nvSpPr>
        <p:spPr>
          <a:xfrm>
            <a:off x="8382000" y="1905000"/>
            <a:ext cx="3048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noProof="1">
                <a:solidFill>
                  <a:srgbClr val="F8FAFC"/>
                </a:solidFill>
                <a:latin typeface="Oranienbaum"/>
                <a:ea typeface="siyuanSongti"/>
              </a:rPr>
              <a:t>灯光控制模块</a:t>
            </a:r>
          </a:p>
        </p:txBody>
      </p:sp>
      <p:sp>
        <p:nvSpPr>
          <p:cNvPr id="18" name="dsl:card-divider-3"/>
          <p:cNvSpPr/>
          <p:nvPr/>
        </p:nvSpPr>
        <p:spPr>
          <a:xfrm>
            <a:off x="8382000" y="2305050"/>
            <a:ext cx="571500" cy="1905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card-body-3"/>
          <p:cNvSpPr txBox="1"/>
          <p:nvPr/>
        </p:nvSpPr>
        <p:spPr>
          <a:xfrm>
            <a:off x="8382000" y="2438400"/>
            <a:ext cx="30480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94A3B8"/>
                </a:solidFill>
                <a:latin typeface="Oranienbaum"/>
                <a:ea typeface="siyuanSongti"/>
              </a:rPr>
              <a:t>继电器模块（GPIO控制）</a:t>
            </a: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94A3B8"/>
                </a:solidFill>
                <a:latin typeface="Oranienbaum"/>
                <a:ea typeface="siyuanSongti"/>
              </a:rPr>
              <a:t>WS2812 全彩灯带</a:t>
            </a: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94A3B8"/>
                </a:solidFill>
                <a:latin typeface="Oranienbaum"/>
                <a:ea typeface="siyuanSongti"/>
              </a:rPr>
              <a:t>成本仅几元</a:t>
            </a:r>
          </a:p>
        </p:txBody>
      </p:sp>
      <p:sp>
        <p:nvSpPr>
          <p:cNvPr id="20" name="dsl:cost-bg"/>
          <p:cNvSpPr/>
          <p:nvPr/>
        </p:nvSpPr>
        <p:spPr>
          <a:xfrm>
            <a:off x="571500" y="4000500"/>
            <a:ext cx="11049000" cy="1905000"/>
          </a:xfrm>
          <a:prstGeom prst="rect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18823"/>
              </a:srgbClr>
            </a:solidFill>
            <a:prstDash val="solid"/>
          </a:ln>
          <a:effectLst>
            <a:outerShdw blurRad="152400" dist="50800" dir="0">
              <a:srgbClr val="000000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cost-label"/>
          <p:cNvSpPr txBox="1"/>
          <p:nvPr/>
        </p:nvSpPr>
        <p:spPr>
          <a:xfrm>
            <a:off x="762000" y="4191000"/>
            <a:ext cx="2857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94A3B8"/>
                </a:solidFill>
                <a:latin typeface="Oranienbaum"/>
                <a:ea typeface="siyuanSongti"/>
              </a:rPr>
              <a:t>总BOM成本</a:t>
            </a:r>
          </a:p>
        </p:txBody>
      </p:sp>
      <p:sp>
        <p:nvSpPr>
          <p:cNvPr id="22" name="dsl:cost-number|s=$kpiAccent"/>
          <p:cNvSpPr txBox="1"/>
          <p:nvPr/>
        </p:nvSpPr>
        <p:spPr>
          <a:xfrm>
            <a:off x="762000" y="4476750"/>
            <a:ext cx="2857500" cy="762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3600" noProof="1">
                <a:solidFill>
                  <a:srgbClr val="F59E0B"/>
                </a:solidFill>
                <a:latin typeface="Oranienbaum"/>
                <a:ea typeface="siyuanSongti"/>
              </a:rPr>
              <a:t>~100元</a:t>
            </a:r>
          </a:p>
        </p:txBody>
      </p:sp>
      <p:sp>
        <p:nvSpPr>
          <p:cNvPr id="23" name="dsl:cost-list"/>
          <p:cNvSpPr txBox="1"/>
          <p:nvPr/>
        </p:nvSpPr>
        <p:spPr>
          <a:xfrm>
            <a:off x="4000500" y="4191000"/>
            <a:ext cx="7429500" cy="152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94A3B8"/>
                </a:solidFill>
                <a:latin typeface="Oranienbaum"/>
                <a:ea typeface="siyuanSongti"/>
              </a:rPr>
              <a:t>ESP32-S3 开发板 ........................... ~30元</a:t>
            </a: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94A3B8"/>
                </a:solidFill>
                <a:latin typeface="Oranienbaum"/>
                <a:ea typeface="siyuanSongti"/>
              </a:rPr>
              <a:t>红外发射/接收模块 ........................... ~10元</a:t>
            </a: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94A3B8"/>
                </a:solidFill>
                <a:latin typeface="Oranienbaum"/>
                <a:ea typeface="siyuanSongti"/>
              </a:rPr>
              <a:t>继电器模块 ................................. ~5元</a:t>
            </a: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94A3B8"/>
                </a:solidFill>
                <a:latin typeface="Oranienbaum"/>
                <a:ea typeface="siyuanSongti"/>
              </a:rPr>
              <a:t>WS2812 灯带 ................................. ~15元</a:t>
            </a: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94A3B8"/>
                </a:solidFill>
                <a:latin typeface="Oranienbaum"/>
                <a:ea typeface="siyuanSongti"/>
              </a:rPr>
              <a:t>其他（杜邦线、面包板等） ................... ~40元</a:t>
            </a:r>
          </a:p>
        </p:txBody>
      </p:sp>
      <p:sp>
        <p:nvSpPr>
          <p:cNvPr id="24" name="dsl:bottom-line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sl:bottom-tag|s=$caption"/>
          <p:cNvSpPr txBox="1"/>
          <p:nvPr/>
        </p:nvSpPr>
        <p:spPr>
          <a:xfrm>
            <a:off x="571500" y="6572250"/>
            <a:ext cx="1905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94A3B8"/>
                </a:solidFill>
                <a:latin typeface="Oranienbaum"/>
                <a:ea typeface="siyuanSongti"/>
              </a:rPr>
              <a:t>MIMICLAW</a:t>
            </a:r>
          </a:p>
        </p:txBody>
      </p:sp>
      <p:sp>
        <p:nvSpPr>
          <p:cNvPr id="26" name="dsl:bottom-page|s=$caption"/>
          <p:cNvSpPr txBox="1"/>
          <p:nvPr/>
        </p:nvSpPr>
        <p:spPr>
          <a:xfrm>
            <a:off x="10477500" y="657225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1050" noProof="1">
                <a:solidFill>
                  <a:srgbClr val="94A3B8"/>
                </a:solidFill>
                <a:latin typeface="Oranienbaum"/>
                <a:ea typeface="siyuanSongti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accent-bar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 rotWithShape="1">
            <a:gsLst>
              <a:gs pos="0">
                <a:srgbClr val="00D4AA">
                  <a:alpha val="0"/>
                </a:srgbClr>
              </a:gs>
              <a:gs pos="30000">
                <a:srgbClr val="00D4AA"/>
              </a:gs>
              <a:gs pos="70000">
                <a:srgbClr val="00D4AA"/>
              </a:gs>
              <a:gs pos="100000">
                <a:srgbClr val="00D4AA">
                  <a:alpha val="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corner-bar"/>
          <p:cNvSpPr/>
          <p:nvPr/>
        </p:nvSpPr>
        <p:spPr>
          <a:xfrm>
            <a:off x="571500" y="476250"/>
            <a:ext cx="38100" cy="3810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page-title|s=$title"/>
          <p:cNvSpPr txBox="1"/>
          <p:nvPr/>
        </p:nvSpPr>
        <p:spPr>
          <a:xfrm>
            <a:off x="762000" y="457200"/>
            <a:ext cx="571500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400" noProof="1">
                <a:solidFill>
                  <a:srgbClr val="F8FAFC"/>
                </a:solidFill>
                <a:latin typeface="Oranienbaum"/>
                <a:ea typeface="siyuanSongti"/>
              </a:rPr>
              <a:t>演示①：飞书语音控制空调</a:t>
            </a:r>
          </a:p>
        </p:txBody>
      </p:sp>
      <p:sp>
        <p:nvSpPr>
          <p:cNvPr id="5" name="dsl:scene-label"/>
          <p:cNvSpPr txBox="1"/>
          <p:nvPr/>
        </p:nvSpPr>
        <p:spPr>
          <a:xfrm>
            <a:off x="571500" y="1143000"/>
            <a:ext cx="1905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00D4AA"/>
                </a:solidFill>
                <a:latin typeface="Oranienbaum"/>
                <a:ea typeface="siyuanSongti"/>
              </a:rPr>
              <a:t>场景一</a:t>
            </a:r>
          </a:p>
        </p:txBody>
      </p:sp>
      <p:sp>
        <p:nvSpPr>
          <p:cNvPr id="6" name="dsl:chat-bg-user"/>
          <p:cNvSpPr/>
          <p:nvPr/>
        </p:nvSpPr>
        <p:spPr>
          <a:xfrm>
            <a:off x="571500" y="1619250"/>
            <a:ext cx="5143500" cy="666750"/>
          </a:xfrm>
          <a:prstGeom prst="rect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18823"/>
              </a:srgbClr>
            </a:solidFill>
            <a:prstDash val="solid"/>
          </a:ln>
          <a:effectLst>
            <a:outerShdw blurRad="152400" dist="50800" dir="0">
              <a:srgbClr val="000000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dsl:chat-icon-user|i=fas:user" descr="tmpurjsgjg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62125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8" name="dsl:chat-text-user"/>
          <p:cNvSpPr txBox="1"/>
          <p:nvPr/>
        </p:nvSpPr>
        <p:spPr>
          <a:xfrm>
            <a:off x="1190625" y="1714500"/>
            <a:ext cx="428625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"打开空调，设置26度"</a:t>
            </a:r>
          </a:p>
        </p:txBody>
      </p:sp>
      <p:cxnSp>
        <p:nvCxnSpPr>
          <p:cNvPr id="9" name="dsl:chat-arrow"/>
          <p:cNvCxnSpPr/>
          <p:nvPr/>
        </p:nvCxnSpPr>
        <p:spPr>
          <a:xfrm>
            <a:off x="3143250" y="2286000"/>
            <a:ext cx="0" cy="381000"/>
          </a:xfrm>
          <a:prstGeom prst="straightConnector1">
            <a:avLst/>
          </a:prstGeom>
          <a:ln w="25400">
            <a:solidFill>
              <a:srgbClr val="00D4A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sl:chat-bg-ai"/>
          <p:cNvSpPr/>
          <p:nvPr/>
        </p:nvSpPr>
        <p:spPr>
          <a:xfrm>
            <a:off x="571500" y="2667000"/>
            <a:ext cx="5143500" cy="666750"/>
          </a:xfrm>
          <a:prstGeom prst="rect">
            <a:avLst/>
          </a:prstGeom>
          <a:solidFill>
            <a:srgbClr val="00D4AA">
              <a:alpha val="12549"/>
            </a:srgbClr>
          </a:solidFill>
          <a:ln w="12700">
            <a:solidFill>
              <a:srgbClr val="00D4A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dsl:chat-icon-ai|i=fas:robot" descr="tmpz1w4k8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809875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2" name="dsl:chat-text-ai"/>
          <p:cNvSpPr txBox="1"/>
          <p:nvPr/>
        </p:nvSpPr>
        <p:spPr>
          <a:xfrm>
            <a:off x="1190625" y="2762250"/>
            <a:ext cx="428625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已为您打开空调，制冷模式，26°C</a:t>
            </a:r>
          </a:p>
        </p:txBody>
      </p:sp>
      <p:sp>
        <p:nvSpPr>
          <p:cNvPr id="13" name="dsl:result-bg"/>
          <p:cNvSpPr/>
          <p:nvPr/>
        </p:nvSpPr>
        <p:spPr>
          <a:xfrm>
            <a:off x="571500" y="3714750"/>
            <a:ext cx="5143500" cy="762000"/>
          </a:xfrm>
          <a:prstGeom prst="rect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F59E0B"/>
            </a:solidFill>
            <a:prstDash val="solid"/>
          </a:ln>
          <a:effectLst>
            <a:outerShdw blurRad="152400" dist="50800" dir="0">
              <a:srgbClr val="000000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dsl:result-icon|i=fas:circle-check" descr="tmptpynvjh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905250"/>
            <a:ext cx="342900" cy="3429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5" name="dsl:result-text"/>
          <p:cNvSpPr txBox="1"/>
          <p:nvPr/>
        </p:nvSpPr>
        <p:spPr>
          <a:xfrm>
            <a:off x="1238250" y="3810000"/>
            <a:ext cx="428625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空调响应：26度制冷模式启动</a:t>
            </a:r>
          </a:p>
        </p:txBody>
      </p:sp>
      <p:sp>
        <p:nvSpPr>
          <p:cNvPr id="16" name="dsl:scene2-label"/>
          <p:cNvSpPr txBox="1"/>
          <p:nvPr/>
        </p:nvSpPr>
        <p:spPr>
          <a:xfrm>
            <a:off x="6286500" y="1143000"/>
            <a:ext cx="1905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00D4AA"/>
                </a:solidFill>
                <a:latin typeface="Oranienbaum"/>
                <a:ea typeface="siyuanSongti"/>
              </a:rPr>
              <a:t>场景二（进阶）</a:t>
            </a:r>
          </a:p>
        </p:txBody>
      </p:sp>
      <p:sp>
        <p:nvSpPr>
          <p:cNvPr id="17" name="dsl:chat-bg-user-2"/>
          <p:cNvSpPr/>
          <p:nvPr/>
        </p:nvSpPr>
        <p:spPr>
          <a:xfrm>
            <a:off x="6286500" y="1619250"/>
            <a:ext cx="5334000" cy="666750"/>
          </a:xfrm>
          <a:prstGeom prst="rect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18823"/>
              </a:srgbClr>
            </a:solidFill>
            <a:prstDash val="solid"/>
          </a:ln>
          <a:effectLst>
            <a:outerShdw blurRad="152400" dist="50800" dir="0">
              <a:srgbClr val="000000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dsl:chat-icon-user-2|i=fas:user" descr="tmpurjsgjg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1762125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9" name="dsl:chat-text-user-2"/>
          <p:cNvSpPr txBox="1"/>
          <p:nvPr/>
        </p:nvSpPr>
        <p:spPr>
          <a:xfrm>
            <a:off x="6905625" y="1714500"/>
            <a:ext cx="447675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"有点热"</a:t>
            </a:r>
          </a:p>
        </p:txBody>
      </p:sp>
      <p:cxnSp>
        <p:nvCxnSpPr>
          <p:cNvPr id="20" name="dsl:chat-arrow-2"/>
          <p:cNvCxnSpPr/>
          <p:nvPr/>
        </p:nvCxnSpPr>
        <p:spPr>
          <a:xfrm>
            <a:off x="8953500" y="2286000"/>
            <a:ext cx="0" cy="381000"/>
          </a:xfrm>
          <a:prstGeom prst="straightConnector1">
            <a:avLst/>
          </a:prstGeom>
          <a:ln w="25400">
            <a:solidFill>
              <a:srgbClr val="00D4A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sl:chat-bg-ai-2"/>
          <p:cNvSpPr/>
          <p:nvPr/>
        </p:nvSpPr>
        <p:spPr>
          <a:xfrm>
            <a:off x="6286500" y="2667000"/>
            <a:ext cx="5334000" cy="952500"/>
          </a:xfrm>
          <a:prstGeom prst="rect">
            <a:avLst/>
          </a:prstGeom>
          <a:solidFill>
            <a:srgbClr val="00D4AA">
              <a:alpha val="12549"/>
            </a:srgbClr>
          </a:solidFill>
          <a:ln w="12700">
            <a:solidFill>
              <a:srgbClr val="00D4A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dsl:chat-icon-ai-2|i=fas:robot" descr="tmpz1w4k8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2857500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3" name="dsl:chat-text-ai-2"/>
          <p:cNvSpPr txBox="1"/>
          <p:nvPr/>
        </p:nvSpPr>
        <p:spPr>
          <a:xfrm>
            <a:off x="6905625" y="2762250"/>
            <a:ext cx="447675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检测到室温偏高，已为您将空调调至24°C制冷模式</a:t>
            </a:r>
          </a:p>
        </p:txBody>
      </p:sp>
      <p:sp>
        <p:nvSpPr>
          <p:cNvPr id="24" name="dsl:result-bg-2"/>
          <p:cNvSpPr/>
          <p:nvPr/>
        </p:nvSpPr>
        <p:spPr>
          <a:xfrm>
            <a:off x="6286500" y="3905250"/>
            <a:ext cx="5334000" cy="762000"/>
          </a:xfrm>
          <a:prstGeom prst="rect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F59E0B"/>
            </a:solidFill>
            <a:prstDash val="solid"/>
          </a:ln>
          <a:effectLst>
            <a:outerShdw blurRad="152400" dist="50800" dir="0">
              <a:srgbClr val="000000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dsl:result-icon-2|i=fas:circle-check" descr="tmptpynvjh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4095750"/>
            <a:ext cx="342900" cy="3429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6" name="dsl:result-text-2"/>
          <p:cNvSpPr txBox="1"/>
          <p:nvPr/>
        </p:nvSpPr>
        <p:spPr>
          <a:xfrm>
            <a:off x="6953250" y="4000500"/>
            <a:ext cx="447675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AI 自动判断意图，无需精确指令</a:t>
            </a:r>
          </a:p>
        </p:txBody>
      </p:sp>
      <p:sp>
        <p:nvSpPr>
          <p:cNvPr id="27" name="dsl:video-note"/>
          <p:cNvSpPr txBox="1"/>
          <p:nvPr/>
        </p:nvSpPr>
        <p:spPr>
          <a:xfrm>
            <a:off x="571500" y="5143500"/>
            <a:ext cx="11049000" cy="952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60000"/>
              </a:lnSpc>
            </a:pPr>
            <a:r>
              <a:rPr sz="1200" noProof="1">
                <a:solidFill>
                  <a:srgbClr val="94A3B8"/>
                </a:solidFill>
                <a:latin typeface="Oranienbaum"/>
                <a:ea typeface="siyuanSongti"/>
              </a:rPr>
              <a:t>▶ 此处配合视频演示段落</a:t>
            </a:r>
          </a:p>
          <a:p>
            <a:pPr algn="ctr">
              <a:lnSpc>
                <a:spcPct val="160000"/>
              </a:lnSpc>
            </a:pPr>
            <a:r>
              <a:rPr sz="1200" noProof="1">
                <a:solidFill>
                  <a:srgbClr val="94A3B8"/>
                </a:solidFill>
                <a:latin typeface="Oranienbaum"/>
                <a:ea typeface="siyuanSongti"/>
              </a:rPr>
              <a:t>实机演示：飞书群发送指令 → ESP32-S3 接收 → 红外发射 → 空调响应</a:t>
            </a:r>
          </a:p>
        </p:txBody>
      </p:sp>
      <p:sp>
        <p:nvSpPr>
          <p:cNvPr id="28" name="dsl:bottom-line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sl:bottom-tag|s=$caption"/>
          <p:cNvSpPr txBox="1"/>
          <p:nvPr/>
        </p:nvSpPr>
        <p:spPr>
          <a:xfrm>
            <a:off x="571500" y="6572250"/>
            <a:ext cx="1905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94A3B8"/>
                </a:solidFill>
                <a:latin typeface="Oranienbaum"/>
                <a:ea typeface="siyuanSongti"/>
              </a:rPr>
              <a:t>MIMICLAW</a:t>
            </a:r>
          </a:p>
        </p:txBody>
      </p:sp>
      <p:sp>
        <p:nvSpPr>
          <p:cNvPr id="30" name="dsl:bottom-page|s=$caption"/>
          <p:cNvSpPr txBox="1"/>
          <p:nvPr/>
        </p:nvSpPr>
        <p:spPr>
          <a:xfrm>
            <a:off x="10477500" y="657225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1050" noProof="1">
                <a:solidFill>
                  <a:srgbClr val="94A3B8"/>
                </a:solidFill>
                <a:latin typeface="Oranienbaum"/>
                <a:ea typeface="siyuanSongti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accent-bar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 rotWithShape="1">
            <a:gsLst>
              <a:gs pos="0">
                <a:srgbClr val="00D4AA">
                  <a:alpha val="0"/>
                </a:srgbClr>
              </a:gs>
              <a:gs pos="30000">
                <a:srgbClr val="00D4AA"/>
              </a:gs>
              <a:gs pos="70000">
                <a:srgbClr val="00D4AA"/>
              </a:gs>
              <a:gs pos="100000">
                <a:srgbClr val="00D4AA">
                  <a:alpha val="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corner-bar"/>
          <p:cNvSpPr/>
          <p:nvPr/>
        </p:nvSpPr>
        <p:spPr>
          <a:xfrm>
            <a:off x="571500" y="476250"/>
            <a:ext cx="38100" cy="3810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page-title|s=$title"/>
          <p:cNvSpPr txBox="1"/>
          <p:nvPr/>
        </p:nvSpPr>
        <p:spPr>
          <a:xfrm>
            <a:off x="762000" y="457200"/>
            <a:ext cx="571500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400" noProof="1">
                <a:solidFill>
                  <a:srgbClr val="F8FAFC"/>
                </a:solidFill>
                <a:latin typeface="Oranienbaum"/>
                <a:ea typeface="siyuanSongti"/>
              </a:rPr>
              <a:t>演示②：飞书语音控制灯光</a:t>
            </a:r>
          </a:p>
        </p:txBody>
      </p:sp>
      <p:sp>
        <p:nvSpPr>
          <p:cNvPr id="5" name="dsl:left-col-label"/>
          <p:cNvSpPr txBox="1"/>
          <p:nvPr/>
        </p:nvSpPr>
        <p:spPr>
          <a:xfrm>
            <a:off x="571500" y="1143000"/>
            <a:ext cx="2857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00D4AA"/>
                </a:solidFill>
                <a:latin typeface="Oranienbaum"/>
                <a:ea typeface="siyuanSongti"/>
              </a:rPr>
              <a:t>场景：开灯</a:t>
            </a:r>
          </a:p>
        </p:txBody>
      </p:sp>
      <p:sp>
        <p:nvSpPr>
          <p:cNvPr id="6" name="dsl:left-step-bg-1"/>
          <p:cNvSpPr/>
          <p:nvPr/>
        </p:nvSpPr>
        <p:spPr>
          <a:xfrm>
            <a:off x="571500" y="1619250"/>
            <a:ext cx="5143500" cy="571500"/>
          </a:xfrm>
          <a:prstGeom prst="rect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18823"/>
              </a:srgbClr>
            </a:solidFill>
            <a:prstDash val="solid"/>
          </a:ln>
          <a:effectLst>
            <a:outerShdw blurRad="152400" dist="50800" dir="0">
              <a:srgbClr val="000000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left-step-text-1"/>
          <p:cNvSpPr txBox="1"/>
          <p:nvPr/>
        </p:nvSpPr>
        <p:spPr>
          <a:xfrm>
            <a:off x="762000" y="1619250"/>
            <a:ext cx="47625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50" noProof="1">
                <a:solidFill>
                  <a:srgbClr val="00D4AA"/>
                </a:solidFill>
                <a:latin typeface="Oranienbaum"/>
                <a:ea typeface="siyuanSongti"/>
              </a:rPr>
              <a:t>①</a:t>
            </a:r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 用户在飞书群发送："打开客厅的灯"</a:t>
            </a:r>
          </a:p>
        </p:txBody>
      </p:sp>
      <p:cxnSp>
        <p:nvCxnSpPr>
          <p:cNvPr id="8" name="dsl:left-arrow-1"/>
          <p:cNvCxnSpPr/>
          <p:nvPr/>
        </p:nvCxnSpPr>
        <p:spPr>
          <a:xfrm>
            <a:off x="3143250" y="2190750"/>
            <a:ext cx="0" cy="285750"/>
          </a:xfrm>
          <a:prstGeom prst="straightConnector1">
            <a:avLst/>
          </a:prstGeom>
          <a:ln w="25400">
            <a:solidFill>
              <a:srgbClr val="00D4A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sl:left-step-bg-2"/>
          <p:cNvSpPr/>
          <p:nvPr/>
        </p:nvSpPr>
        <p:spPr>
          <a:xfrm>
            <a:off x="571500" y="2476500"/>
            <a:ext cx="5143500" cy="571500"/>
          </a:xfrm>
          <a:prstGeom prst="rect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18823"/>
              </a:srgbClr>
            </a:solidFill>
            <a:prstDash val="solid"/>
          </a:ln>
          <a:effectLst>
            <a:outerShdw blurRad="152400" dist="50800" dir="0">
              <a:srgbClr val="000000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left-step-text-2"/>
          <p:cNvSpPr txBox="1"/>
          <p:nvPr/>
        </p:nvSpPr>
        <p:spPr>
          <a:xfrm>
            <a:off x="762000" y="2476500"/>
            <a:ext cx="47625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50" noProof="1">
                <a:solidFill>
                  <a:srgbClr val="00D4AA"/>
                </a:solidFill>
                <a:latin typeface="Oranienbaum"/>
                <a:ea typeface="siyuanSongti"/>
              </a:rPr>
              <a:t>②</a:t>
            </a:r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 AI 识别意图：开启客厅照明</a:t>
            </a:r>
          </a:p>
        </p:txBody>
      </p:sp>
      <p:cxnSp>
        <p:nvCxnSpPr>
          <p:cNvPr id="11" name="dsl:left-arrow-2"/>
          <p:cNvCxnSpPr/>
          <p:nvPr/>
        </p:nvCxnSpPr>
        <p:spPr>
          <a:xfrm>
            <a:off x="3143250" y="3048000"/>
            <a:ext cx="0" cy="285750"/>
          </a:xfrm>
          <a:prstGeom prst="straightConnector1">
            <a:avLst/>
          </a:prstGeom>
          <a:ln w="25400">
            <a:solidFill>
              <a:srgbClr val="00D4A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sl:left-step-bg-3"/>
          <p:cNvSpPr/>
          <p:nvPr/>
        </p:nvSpPr>
        <p:spPr>
          <a:xfrm>
            <a:off x="571500" y="3333750"/>
            <a:ext cx="5143500" cy="571500"/>
          </a:xfrm>
          <a:prstGeom prst="rect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18823"/>
              </a:srgbClr>
            </a:solidFill>
            <a:prstDash val="solid"/>
          </a:ln>
          <a:effectLst>
            <a:outerShdw blurRad="152400" dist="50800" dir="0">
              <a:srgbClr val="000000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left-step-text-3"/>
          <p:cNvSpPr txBox="1"/>
          <p:nvPr/>
        </p:nvSpPr>
        <p:spPr>
          <a:xfrm>
            <a:off x="762000" y="3333750"/>
            <a:ext cx="47625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50" noProof="1">
                <a:solidFill>
                  <a:srgbClr val="00D4AA"/>
                </a:solidFill>
                <a:latin typeface="Oranienbaum"/>
                <a:ea typeface="siyuanSongti"/>
              </a:rPr>
              <a:t>③</a:t>
            </a:r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 调用 GPIO 工具，继电器闭合</a:t>
            </a:r>
          </a:p>
        </p:txBody>
      </p:sp>
      <p:cxnSp>
        <p:nvCxnSpPr>
          <p:cNvPr id="14" name="dsl:left-arrow-3"/>
          <p:cNvCxnSpPr/>
          <p:nvPr/>
        </p:nvCxnSpPr>
        <p:spPr>
          <a:xfrm>
            <a:off x="3143250" y="3905250"/>
            <a:ext cx="0" cy="285750"/>
          </a:xfrm>
          <a:prstGeom prst="straightConnector1">
            <a:avLst/>
          </a:prstGeom>
          <a:ln w="25400">
            <a:solidFill>
              <a:srgbClr val="00D4A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sl:left-step-bg-4"/>
          <p:cNvSpPr/>
          <p:nvPr/>
        </p:nvSpPr>
        <p:spPr>
          <a:xfrm>
            <a:off x="571500" y="4191000"/>
            <a:ext cx="5143500" cy="571500"/>
          </a:xfrm>
          <a:prstGeom prst="rect">
            <a:avLst/>
          </a:prstGeom>
          <a:solidFill>
            <a:srgbClr val="00D4AA">
              <a:alpha val="12549"/>
            </a:srgbClr>
          </a:solidFill>
          <a:ln w="12700">
            <a:solidFill>
              <a:srgbClr val="00D4A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left-step-text-4"/>
          <p:cNvSpPr txBox="1"/>
          <p:nvPr/>
        </p:nvSpPr>
        <p:spPr>
          <a:xfrm>
            <a:off x="762000" y="4191000"/>
            <a:ext cx="47625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50" noProof="1">
                <a:solidFill>
                  <a:srgbClr val="00D4AA"/>
                </a:solidFill>
                <a:latin typeface="Oranienbaum"/>
                <a:ea typeface="siyuanSongti"/>
              </a:rPr>
              <a:t>④</a:t>
            </a:r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 客厅灯亮，飞书回复确认</a:t>
            </a:r>
          </a:p>
        </p:txBody>
      </p:sp>
      <p:sp>
        <p:nvSpPr>
          <p:cNvPr id="17" name="dsl:right-col-label"/>
          <p:cNvSpPr txBox="1"/>
          <p:nvPr/>
        </p:nvSpPr>
        <p:spPr>
          <a:xfrm>
            <a:off x="6286500" y="1143000"/>
            <a:ext cx="2857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00D4AA"/>
                </a:solidFill>
                <a:latin typeface="Oranienbaum"/>
                <a:ea typeface="siyuanSongti"/>
              </a:rPr>
              <a:t>场景：关灯</a:t>
            </a:r>
          </a:p>
        </p:txBody>
      </p:sp>
      <p:sp>
        <p:nvSpPr>
          <p:cNvPr id="18" name="dsl:right-step-bg-1"/>
          <p:cNvSpPr/>
          <p:nvPr/>
        </p:nvSpPr>
        <p:spPr>
          <a:xfrm>
            <a:off x="6286500" y="1619250"/>
            <a:ext cx="5334000" cy="571500"/>
          </a:xfrm>
          <a:prstGeom prst="rect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18823"/>
              </a:srgbClr>
            </a:solidFill>
            <a:prstDash val="solid"/>
          </a:ln>
          <a:effectLst>
            <a:outerShdw blurRad="152400" dist="50800" dir="0">
              <a:srgbClr val="000000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right-step-text-1"/>
          <p:cNvSpPr txBox="1"/>
          <p:nvPr/>
        </p:nvSpPr>
        <p:spPr>
          <a:xfrm>
            <a:off x="6477000" y="1619250"/>
            <a:ext cx="4953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50" noProof="1">
                <a:solidFill>
                  <a:srgbClr val="F59E0B"/>
                </a:solidFill>
                <a:latin typeface="Oranienbaum"/>
                <a:ea typeface="siyuanSongti"/>
              </a:rPr>
              <a:t>①</a:t>
            </a:r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 用户发送："关掉"</a:t>
            </a:r>
          </a:p>
        </p:txBody>
      </p:sp>
      <p:cxnSp>
        <p:nvCxnSpPr>
          <p:cNvPr id="20" name="dsl:right-arrow-1"/>
          <p:cNvCxnSpPr/>
          <p:nvPr/>
        </p:nvCxnSpPr>
        <p:spPr>
          <a:xfrm>
            <a:off x="8953500" y="2190750"/>
            <a:ext cx="0" cy="285750"/>
          </a:xfrm>
          <a:prstGeom prst="straightConnector1">
            <a:avLst/>
          </a:prstGeom>
          <a:ln w="25400">
            <a:solidFill>
              <a:srgbClr val="F59E0B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sl:right-step-bg-2"/>
          <p:cNvSpPr/>
          <p:nvPr/>
        </p:nvSpPr>
        <p:spPr>
          <a:xfrm>
            <a:off x="6286500" y="2476500"/>
            <a:ext cx="5334000" cy="571500"/>
          </a:xfrm>
          <a:prstGeom prst="rect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18823"/>
              </a:srgbClr>
            </a:solidFill>
            <a:prstDash val="solid"/>
          </a:ln>
          <a:effectLst>
            <a:outerShdw blurRad="152400" dist="50800" dir="0">
              <a:srgbClr val="000000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right-step-text-2"/>
          <p:cNvSpPr txBox="1"/>
          <p:nvPr/>
        </p:nvSpPr>
        <p:spPr>
          <a:xfrm>
            <a:off x="6477000" y="2476500"/>
            <a:ext cx="4953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50" noProof="1">
                <a:solidFill>
                  <a:srgbClr val="F59E0B"/>
                </a:solidFill>
                <a:latin typeface="Oranienbaum"/>
                <a:ea typeface="siyuanSongti"/>
              </a:rPr>
              <a:t>②</a:t>
            </a:r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 AI 识别上下文：关闭客厅灯</a:t>
            </a:r>
          </a:p>
        </p:txBody>
      </p:sp>
      <p:cxnSp>
        <p:nvCxnSpPr>
          <p:cNvPr id="23" name="dsl:right-arrow-2"/>
          <p:cNvCxnSpPr/>
          <p:nvPr/>
        </p:nvCxnSpPr>
        <p:spPr>
          <a:xfrm>
            <a:off x="8953500" y="3048000"/>
            <a:ext cx="0" cy="285750"/>
          </a:xfrm>
          <a:prstGeom prst="straightConnector1">
            <a:avLst/>
          </a:prstGeom>
          <a:ln w="25400">
            <a:solidFill>
              <a:srgbClr val="F59E0B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sl:right-step-bg-3"/>
          <p:cNvSpPr/>
          <p:nvPr/>
        </p:nvSpPr>
        <p:spPr>
          <a:xfrm>
            <a:off x="6286500" y="3333750"/>
            <a:ext cx="5334000" cy="571500"/>
          </a:xfrm>
          <a:prstGeom prst="rect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18823"/>
              </a:srgbClr>
            </a:solidFill>
            <a:prstDash val="solid"/>
          </a:ln>
          <a:effectLst>
            <a:outerShdw blurRad="152400" dist="50800" dir="0">
              <a:srgbClr val="000000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sl:right-step-text-3"/>
          <p:cNvSpPr txBox="1"/>
          <p:nvPr/>
        </p:nvSpPr>
        <p:spPr>
          <a:xfrm>
            <a:off x="6477000" y="3333750"/>
            <a:ext cx="4953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50" noProof="1">
                <a:solidFill>
                  <a:srgbClr val="F59E0B"/>
                </a:solidFill>
                <a:latin typeface="Oranienbaum"/>
                <a:ea typeface="siyuanSongti"/>
              </a:rPr>
              <a:t>③</a:t>
            </a:r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 继电器断开，灯灭</a:t>
            </a:r>
          </a:p>
        </p:txBody>
      </p:sp>
      <p:cxnSp>
        <p:nvCxnSpPr>
          <p:cNvPr id="26" name="dsl:right-arrow-3"/>
          <p:cNvCxnSpPr/>
          <p:nvPr/>
        </p:nvCxnSpPr>
        <p:spPr>
          <a:xfrm>
            <a:off x="8953500" y="3905250"/>
            <a:ext cx="0" cy="285750"/>
          </a:xfrm>
          <a:prstGeom prst="straightConnector1">
            <a:avLst/>
          </a:prstGeom>
          <a:ln w="25400">
            <a:solidFill>
              <a:srgbClr val="F59E0B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dsl:right-step-bg-4"/>
          <p:cNvSpPr/>
          <p:nvPr/>
        </p:nvSpPr>
        <p:spPr>
          <a:xfrm>
            <a:off x="6286500" y="4191000"/>
            <a:ext cx="5334000" cy="571500"/>
          </a:xfrm>
          <a:prstGeom prst="rect">
            <a:avLst/>
          </a:prstGeom>
          <a:solidFill>
            <a:srgbClr val="F59E0B">
              <a:alpha val="12549"/>
            </a:srgbClr>
          </a:solidFill>
          <a:ln w="12700">
            <a:solidFill>
              <a:srgbClr val="F59E0B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sl:right-step-text-4"/>
          <p:cNvSpPr txBox="1"/>
          <p:nvPr/>
        </p:nvSpPr>
        <p:spPr>
          <a:xfrm>
            <a:off x="6477000" y="4191000"/>
            <a:ext cx="4953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50" noProof="1">
                <a:solidFill>
                  <a:srgbClr val="F59E0B"/>
                </a:solidFill>
                <a:latin typeface="Oranienbaum"/>
                <a:ea typeface="siyuanSongti"/>
              </a:rPr>
              <a:t>④</a:t>
            </a:r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 已关灯，支持模糊语义</a:t>
            </a:r>
          </a:p>
        </p:txBody>
      </p:sp>
      <p:sp>
        <p:nvSpPr>
          <p:cNvPr id="29" name="dsl:cost-note"/>
          <p:cNvSpPr/>
          <p:nvPr/>
        </p:nvSpPr>
        <p:spPr>
          <a:xfrm>
            <a:off x="571500" y="5143500"/>
            <a:ext cx="11049000" cy="666750"/>
          </a:xfrm>
          <a:prstGeom prst="rect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18823"/>
              </a:srgbClr>
            </a:solidFill>
            <a:prstDash val="solid"/>
          </a:ln>
          <a:effectLst>
            <a:outerShdw blurRad="152400" dist="50800" dir="0">
              <a:srgbClr val="000000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dsl:cost-note-icon|i=fas:coins" descr="tmpudtxgy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286375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31" name="dsl:cost-note-text"/>
          <p:cNvSpPr txBox="1"/>
          <p:nvPr/>
        </p:nvSpPr>
        <p:spPr>
          <a:xfrm>
            <a:off x="1190625" y="5238750"/>
            <a:ext cx="1019175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通过普通继电器模块实现，</a:t>
            </a:r>
            <a:r>
              <a:rPr sz="1350" noProof="1">
                <a:solidFill>
                  <a:srgbClr val="F59E0B"/>
                </a:solidFill>
                <a:latin typeface="Oranienbaum"/>
                <a:ea typeface="siyuanSongti"/>
              </a:rPr>
              <a:t>成本仅几元</a:t>
            </a:r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 — 无需智能灯泡或智能开关</a:t>
            </a:r>
          </a:p>
        </p:txBody>
      </p:sp>
      <p:sp>
        <p:nvSpPr>
          <p:cNvPr id="32" name="dsl:video-note"/>
          <p:cNvSpPr txBox="1"/>
          <p:nvPr/>
        </p:nvSpPr>
        <p:spPr>
          <a:xfrm>
            <a:off x="571500" y="6000750"/>
            <a:ext cx="11049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94A3B8"/>
                </a:solidFill>
                <a:latin typeface="Oranienbaum"/>
                <a:ea typeface="siyuanSongti"/>
              </a:rPr>
              <a:t>▶ 此处配合视频演示段落</a:t>
            </a:r>
          </a:p>
        </p:txBody>
      </p:sp>
      <p:sp>
        <p:nvSpPr>
          <p:cNvPr id="33" name="dsl:bottom-line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sl:bottom-tag|s=$caption"/>
          <p:cNvSpPr txBox="1"/>
          <p:nvPr/>
        </p:nvSpPr>
        <p:spPr>
          <a:xfrm>
            <a:off x="571500" y="6572250"/>
            <a:ext cx="1905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94A3B8"/>
                </a:solidFill>
                <a:latin typeface="Oranienbaum"/>
                <a:ea typeface="siyuanSongti"/>
              </a:rPr>
              <a:t>MIMICLAW</a:t>
            </a:r>
          </a:p>
        </p:txBody>
      </p:sp>
      <p:sp>
        <p:nvSpPr>
          <p:cNvPr id="35" name="dsl:bottom-page|s=$caption"/>
          <p:cNvSpPr txBox="1"/>
          <p:nvPr/>
        </p:nvSpPr>
        <p:spPr>
          <a:xfrm>
            <a:off x="10477500" y="657225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1050" noProof="1">
                <a:solidFill>
                  <a:srgbClr val="94A3B8"/>
                </a:solidFill>
                <a:latin typeface="Oranienbaum"/>
                <a:ea typeface="siyuanSongti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accent-bar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 rotWithShape="1">
            <a:gsLst>
              <a:gs pos="0">
                <a:srgbClr val="00D4AA">
                  <a:alpha val="0"/>
                </a:srgbClr>
              </a:gs>
              <a:gs pos="30000">
                <a:srgbClr val="00D4AA"/>
              </a:gs>
              <a:gs pos="70000">
                <a:srgbClr val="00D4AA"/>
              </a:gs>
              <a:gs pos="100000">
                <a:srgbClr val="00D4AA">
                  <a:alpha val="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corner-bar"/>
          <p:cNvSpPr/>
          <p:nvPr/>
        </p:nvSpPr>
        <p:spPr>
          <a:xfrm>
            <a:off x="571500" y="476250"/>
            <a:ext cx="38100" cy="3810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page-title|s=$title"/>
          <p:cNvSpPr txBox="1"/>
          <p:nvPr/>
        </p:nvSpPr>
        <p:spPr>
          <a:xfrm>
            <a:off x="762000" y="457200"/>
            <a:ext cx="666750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400" noProof="1">
                <a:solidFill>
                  <a:srgbClr val="F8FAFC"/>
                </a:solidFill>
                <a:latin typeface="Oranienbaum"/>
                <a:ea typeface="siyuanSongti"/>
              </a:rPr>
              <a:t>开发状态：核心功能已全部完成</a:t>
            </a:r>
          </a:p>
        </p:txBody>
      </p:sp>
      <p:sp>
        <p:nvSpPr>
          <p:cNvPr id="5" name="dsl:done-label"/>
          <p:cNvSpPr txBox="1"/>
          <p:nvPr/>
        </p:nvSpPr>
        <p:spPr>
          <a:xfrm>
            <a:off x="571500" y="1143000"/>
            <a:ext cx="1905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00D4AA"/>
                </a:solidFill>
                <a:latin typeface="Oranienbaum"/>
                <a:ea typeface="siyuanSongti"/>
              </a:rPr>
              <a:t>✅ 已完成</a:t>
            </a:r>
          </a:p>
        </p:txBody>
      </p:sp>
      <p:sp>
        <p:nvSpPr>
          <p:cNvPr id="6" name="dsl:done-list"/>
          <p:cNvSpPr txBox="1"/>
          <p:nvPr/>
        </p:nvSpPr>
        <p:spPr>
          <a:xfrm>
            <a:off x="571500" y="1524000"/>
            <a:ext cx="5334000" cy="419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00D4AA"/>
                </a:solidFill>
                <a:latin typeface="Oranienbaum"/>
                <a:ea typeface="siyuanSongti"/>
              </a:rPr>
              <a:t>✓</a:t>
            </a:r>
            <a:r>
              <a:rPr sz="1200" noProof="1">
                <a:solidFill>
                  <a:srgbClr val="F8FAFC"/>
                </a:solidFill>
                <a:latin typeface="Oranienbaum"/>
                <a:ea typeface="siyuanSongti"/>
              </a:rPr>
              <a:t>  MimiClaw 嵌入式AI智能体框架</a:t>
            </a: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00D4AA"/>
                </a:solidFill>
                <a:latin typeface="Oranienbaum"/>
                <a:ea typeface="siyuanSongti"/>
              </a:rPr>
              <a:t>✓</a:t>
            </a:r>
            <a:r>
              <a:rPr sz="1200" noProof="1">
                <a:solidFill>
                  <a:srgbClr val="F8FAFC"/>
                </a:solidFill>
                <a:latin typeface="Oranienbaum"/>
                <a:ea typeface="siyuanSongti"/>
              </a:rPr>
              <a:t>  飞书机器人（消息收发）</a:t>
            </a: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00D4AA"/>
                </a:solidFill>
                <a:latin typeface="Oranienbaum"/>
                <a:ea typeface="siyuanSongti"/>
              </a:rPr>
              <a:t>✓</a:t>
            </a:r>
            <a:r>
              <a:rPr sz="1200" noProof="1">
                <a:solidFill>
                  <a:srgbClr val="F8FAFC"/>
                </a:solidFill>
                <a:latin typeface="Oranienbaum"/>
                <a:ea typeface="siyuanSongti"/>
              </a:rPr>
              <a:t>  LLM 代理（DeepSeek / Claude）</a:t>
            </a: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00D4AA"/>
                </a:solidFill>
                <a:latin typeface="Oranienbaum"/>
                <a:ea typeface="siyuanSongti"/>
              </a:rPr>
              <a:t>✓</a:t>
            </a:r>
            <a:r>
              <a:rPr sz="1200" noProof="1">
                <a:solidFill>
                  <a:srgbClr val="F8FAFC"/>
                </a:solidFill>
                <a:latin typeface="Oranienbaum"/>
                <a:ea typeface="siyuanSongti"/>
              </a:rPr>
              <a:t>  红外驱动（RMT协议）</a:t>
            </a: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00D4AA"/>
                </a:solidFill>
                <a:latin typeface="Oranienbaum"/>
                <a:ea typeface="siyuanSongti"/>
              </a:rPr>
              <a:t>✓</a:t>
            </a:r>
            <a:r>
              <a:rPr sz="1200" noProof="1">
                <a:solidFill>
                  <a:srgbClr val="F8FAFC"/>
                </a:solidFill>
                <a:latin typeface="Oranienbaum"/>
                <a:ea typeface="siyuanSongti"/>
              </a:rPr>
              <a:t>  美的/格力空调预设码</a:t>
            </a: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00D4AA"/>
                </a:solidFill>
                <a:latin typeface="Oranienbaum"/>
                <a:ea typeface="siyuanSongti"/>
              </a:rPr>
              <a:t>✓</a:t>
            </a:r>
            <a:r>
              <a:rPr sz="1200" noProof="1">
                <a:solidFill>
                  <a:srgbClr val="F8FAFC"/>
                </a:solidFill>
                <a:latin typeface="Oranienbaum"/>
                <a:ea typeface="siyuanSongti"/>
              </a:rPr>
              <a:t>  红外学习（32组码存储）</a:t>
            </a: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00D4AA"/>
                </a:solidFill>
                <a:latin typeface="Oranienbaum"/>
                <a:ea typeface="siyuanSongti"/>
              </a:rPr>
              <a:t>✓</a:t>
            </a:r>
            <a:r>
              <a:rPr sz="1200" noProof="1">
                <a:solidFill>
                  <a:srgbClr val="F8FAFC"/>
                </a:solidFill>
                <a:latin typeface="Oranienbaum"/>
                <a:ea typeface="siyuanSongti"/>
              </a:rPr>
              <a:t>  GPIO 继电器控制</a:t>
            </a: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00D4AA"/>
                </a:solidFill>
                <a:latin typeface="Oranienbaum"/>
                <a:ea typeface="siyuanSongti"/>
              </a:rPr>
              <a:t>✓</a:t>
            </a:r>
            <a:r>
              <a:rPr sz="1200" noProof="1">
                <a:solidFill>
                  <a:srgbClr val="F8FAFC"/>
                </a:solidFill>
                <a:latin typeface="Oranienbaum"/>
                <a:ea typeface="siyuanSongti"/>
              </a:rPr>
              <a:t>  WS2812 全彩灯带</a:t>
            </a: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00D4AA"/>
                </a:solidFill>
                <a:latin typeface="Oranienbaum"/>
                <a:ea typeface="siyuanSongti"/>
              </a:rPr>
              <a:t>✓</a:t>
            </a:r>
            <a:r>
              <a:rPr sz="1200" noProof="1">
                <a:solidFill>
                  <a:srgbClr val="F8FAFC"/>
                </a:solidFill>
                <a:latin typeface="Oranienbaum"/>
                <a:ea typeface="siyuanSongti"/>
              </a:rPr>
              <a:t>  ESP-NOW 多设备组网</a:t>
            </a: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00D4AA"/>
                </a:solidFill>
                <a:latin typeface="Oranienbaum"/>
                <a:ea typeface="siyuanSongti"/>
              </a:rPr>
              <a:t>✓</a:t>
            </a:r>
            <a:r>
              <a:rPr sz="1200" noProof="1">
                <a:solidFill>
                  <a:srgbClr val="F8FAFC"/>
                </a:solidFill>
                <a:latin typeface="Oranienbaum"/>
                <a:ea typeface="siyuanSongti"/>
              </a:rPr>
              <a:t>  WiFi 配网（Captive Portal）</a:t>
            </a: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00D4AA"/>
                </a:solidFill>
                <a:latin typeface="Oranienbaum"/>
                <a:ea typeface="siyuanSongti"/>
              </a:rPr>
              <a:t>✓</a:t>
            </a:r>
            <a:r>
              <a:rPr sz="1200" noProof="1">
                <a:solidFill>
                  <a:srgbClr val="F8FAFC"/>
                </a:solidFill>
                <a:latin typeface="Oranienbaum"/>
                <a:ea typeface="siyuanSongti"/>
              </a:rPr>
              <a:t>  OTA 远程升级</a:t>
            </a: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00D4AA"/>
                </a:solidFill>
                <a:latin typeface="Oranienbaum"/>
                <a:ea typeface="siyuanSongti"/>
              </a:rPr>
              <a:t>✓</a:t>
            </a:r>
            <a:r>
              <a:rPr sz="1200" noProof="1">
                <a:solidFill>
                  <a:srgbClr val="F8FAFC"/>
                </a:solidFill>
                <a:latin typeface="Oranienbaum"/>
                <a:ea typeface="siyuanSongti"/>
              </a:rPr>
              <a:t>  定时任务（Cron）</a:t>
            </a: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00D4AA"/>
                </a:solidFill>
                <a:latin typeface="Oranienbaum"/>
                <a:ea typeface="siyuanSongti"/>
              </a:rPr>
              <a:t>✓</a:t>
            </a:r>
            <a:r>
              <a:rPr sz="1200" noProof="1">
                <a:solidFill>
                  <a:srgbClr val="F8FAFC"/>
                </a:solidFill>
                <a:latin typeface="Oranienbaum"/>
                <a:ea typeface="siyuanSongti"/>
              </a:rPr>
              <a:t>  记忆系统（SPIFFS存储）</a:t>
            </a:r>
          </a:p>
        </p:txBody>
      </p:sp>
      <p:sp>
        <p:nvSpPr>
          <p:cNvPr id="7" name="dsl:todo-label"/>
          <p:cNvSpPr txBox="1"/>
          <p:nvPr/>
        </p:nvSpPr>
        <p:spPr>
          <a:xfrm>
            <a:off x="6286500" y="1143000"/>
            <a:ext cx="1905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F59E0B"/>
                </a:solidFill>
                <a:latin typeface="Oranienbaum"/>
                <a:ea typeface="siyuanSongti"/>
              </a:rPr>
              <a:t>○ 待完成</a:t>
            </a:r>
          </a:p>
        </p:txBody>
      </p:sp>
      <p:sp>
        <p:nvSpPr>
          <p:cNvPr id="8" name="dsl:todo-list"/>
          <p:cNvSpPr txBox="1"/>
          <p:nvPr/>
        </p:nvSpPr>
        <p:spPr>
          <a:xfrm>
            <a:off x="6286500" y="1524000"/>
            <a:ext cx="53340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94A3B8"/>
                </a:solidFill>
                <a:latin typeface="Oranienbaum"/>
                <a:ea typeface="siyuanSongti"/>
              </a:rPr>
              <a:t>○  独立子模块固件（从设备）</a:t>
            </a: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94A3B8"/>
                </a:solidFill>
                <a:latin typeface="Oranienbaum"/>
                <a:ea typeface="siyuanSongti"/>
              </a:rPr>
              <a:t>○  语音交互硬件（麦克风阵列）</a:t>
            </a: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94A3B8"/>
                </a:solidFill>
                <a:latin typeface="Oranienbaum"/>
                <a:ea typeface="siyuanSongti"/>
              </a:rPr>
              <a:t>○  更丰富的家电预设码库</a:t>
            </a:r>
          </a:p>
        </p:txBody>
      </p:sp>
      <p:sp>
        <p:nvSpPr>
          <p:cNvPr id="9" name="dsl:status-kpi-bg"/>
          <p:cNvSpPr/>
          <p:nvPr/>
        </p:nvSpPr>
        <p:spPr>
          <a:xfrm>
            <a:off x="6286500" y="3810000"/>
            <a:ext cx="5334000" cy="1714500"/>
          </a:xfrm>
          <a:prstGeom prst="rect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18823"/>
              </a:srgbClr>
            </a:solidFill>
            <a:prstDash val="solid"/>
          </a:ln>
          <a:effectLst>
            <a:outerShdw blurRad="152400" dist="50800" dir="0">
              <a:srgbClr val="000000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status-kpi-title"/>
          <p:cNvSpPr txBox="1"/>
          <p:nvPr/>
        </p:nvSpPr>
        <p:spPr>
          <a:xfrm>
            <a:off x="6477000" y="3952875"/>
            <a:ext cx="4953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94A3B8"/>
                </a:solidFill>
                <a:latin typeface="Oranienbaum"/>
                <a:ea typeface="siyuanSongti"/>
              </a:rPr>
              <a:t>项目进度</a:t>
            </a:r>
          </a:p>
        </p:txBody>
      </p:sp>
      <p:sp>
        <p:nvSpPr>
          <p:cNvPr id="11" name="dsl:status-kpi-number|s=$kpi"/>
          <p:cNvSpPr txBox="1"/>
          <p:nvPr/>
        </p:nvSpPr>
        <p:spPr>
          <a:xfrm>
            <a:off x="6477000" y="4238625"/>
            <a:ext cx="1905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3600" noProof="1">
                <a:solidFill>
                  <a:srgbClr val="00D4AA"/>
                </a:solidFill>
                <a:latin typeface="Oranienbaum"/>
                <a:ea typeface="siyuanSongti"/>
              </a:rPr>
              <a:t>13/15</a:t>
            </a:r>
          </a:p>
        </p:txBody>
      </p:sp>
      <p:sp>
        <p:nvSpPr>
          <p:cNvPr id="12" name="dsl:status-kpi-detail"/>
          <p:cNvSpPr txBox="1"/>
          <p:nvPr/>
        </p:nvSpPr>
        <p:spPr>
          <a:xfrm>
            <a:off x="8572500" y="4238625"/>
            <a:ext cx="28575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核心功能已完成</a:t>
            </a:r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
</a:t>
            </a:r>
            <a:r>
              <a:rPr sz="1350" noProof="1">
                <a:solidFill>
                  <a:srgbClr val="F8FAFC"/>
                </a:solidFill>
                <a:latin typeface="Oranienbaum"/>
                <a:ea typeface="siyuanSongti"/>
              </a:rPr>
              <a:t>固件已编译并在实机验证</a:t>
            </a:r>
          </a:p>
        </p:txBody>
      </p:sp>
      <p:sp>
        <p:nvSpPr>
          <p:cNvPr id="13" name="dsl:status-bar-bg"/>
          <p:cNvSpPr/>
          <p:nvPr/>
        </p:nvSpPr>
        <p:spPr>
          <a:xfrm>
            <a:off x="6477000" y="4953000"/>
            <a:ext cx="4953000" cy="76200"/>
          </a:xfrm>
          <a:prstGeom prst="rect">
            <a:avLst/>
          </a:prstGeom>
          <a:solidFill>
            <a:srgbClr val="FFFFFF">
              <a:alpha val="1882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status-bar-fill"/>
          <p:cNvSpPr/>
          <p:nvPr/>
        </p:nvSpPr>
        <p:spPr>
          <a:xfrm>
            <a:off x="6477000" y="4953000"/>
            <a:ext cx="4286250" cy="762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status-bar-text"/>
          <p:cNvSpPr txBox="1"/>
          <p:nvPr/>
        </p:nvSpPr>
        <p:spPr>
          <a:xfrm>
            <a:off x="6477000" y="5286375"/>
            <a:ext cx="495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1050" noProof="1">
                <a:solidFill>
                  <a:srgbClr val="94A3B8"/>
                </a:solidFill>
                <a:latin typeface="Oranienbaum"/>
                <a:ea typeface="siyuanSongti"/>
              </a:rPr>
              <a:t>87% 完成度</a:t>
            </a:r>
          </a:p>
        </p:txBody>
      </p:sp>
      <p:sp>
        <p:nvSpPr>
          <p:cNvPr id="16" name="dsl:bottom-line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bottom-tag|s=$caption"/>
          <p:cNvSpPr txBox="1"/>
          <p:nvPr/>
        </p:nvSpPr>
        <p:spPr>
          <a:xfrm>
            <a:off x="571500" y="6572250"/>
            <a:ext cx="1905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94A3B8"/>
                </a:solidFill>
                <a:latin typeface="Oranienbaum"/>
                <a:ea typeface="siyuanSongti"/>
              </a:rPr>
              <a:t>MIMICLAW</a:t>
            </a:r>
          </a:p>
        </p:txBody>
      </p:sp>
      <p:sp>
        <p:nvSpPr>
          <p:cNvPr id="18" name="dsl:bottom-page|s=$caption"/>
          <p:cNvSpPr txBox="1"/>
          <p:nvPr/>
        </p:nvSpPr>
        <p:spPr>
          <a:xfrm>
            <a:off x="10477500" y="657225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1050" noProof="1">
                <a:solidFill>
                  <a:srgbClr val="94A3B8"/>
                </a:solidFill>
                <a:latin typeface="Oranienbaum"/>
                <a:ea typeface="siyuanSongti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accent-bar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 rotWithShape="1">
            <a:gsLst>
              <a:gs pos="0">
                <a:srgbClr val="00D4AA">
                  <a:alpha val="0"/>
                </a:srgbClr>
              </a:gs>
              <a:gs pos="30000">
                <a:srgbClr val="00D4AA"/>
              </a:gs>
              <a:gs pos="70000">
                <a:srgbClr val="00D4AA"/>
              </a:gs>
              <a:gs pos="100000">
                <a:srgbClr val="00D4AA">
                  <a:alpha val="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corner-bar"/>
          <p:cNvSpPr/>
          <p:nvPr/>
        </p:nvSpPr>
        <p:spPr>
          <a:xfrm>
            <a:off x="571500" y="476250"/>
            <a:ext cx="38100" cy="3810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page-title|s=$title"/>
          <p:cNvSpPr txBox="1"/>
          <p:nvPr/>
        </p:nvSpPr>
        <p:spPr>
          <a:xfrm>
            <a:off x="762000" y="457200"/>
            <a:ext cx="571500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400" noProof="1">
                <a:solidFill>
                  <a:srgbClr val="F8FAFC"/>
                </a:solidFill>
                <a:latin typeface="Oranienbaum"/>
                <a:ea typeface="siyuanSongti"/>
              </a:rPr>
              <a:t>核心创新点</a:t>
            </a:r>
          </a:p>
        </p:txBody>
      </p:sp>
      <p:sp>
        <p:nvSpPr>
          <p:cNvPr id="5" name="dsl:card-bg-1"/>
          <p:cNvSpPr/>
          <p:nvPr/>
        </p:nvSpPr>
        <p:spPr>
          <a:xfrm>
            <a:off x="571500" y="1143000"/>
            <a:ext cx="5334000" cy="2381250"/>
          </a:xfrm>
          <a:prstGeom prst="rect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18823"/>
              </a:srgbClr>
            </a:solidFill>
            <a:prstDash val="solid"/>
          </a:ln>
          <a:effectLst>
            <a:outerShdw blurRad="152400" dist="50800" dir="0">
              <a:srgbClr val="000000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card-num-1"/>
          <p:cNvSpPr txBox="1"/>
          <p:nvPr/>
        </p:nvSpPr>
        <p:spPr>
          <a:xfrm>
            <a:off x="762000" y="1238250"/>
            <a:ext cx="762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3600" noProof="1">
                <a:solidFill>
                  <a:srgbClr val="00D4AA"/>
                </a:solidFill>
                <a:latin typeface="Oranienbaum"/>
                <a:ea typeface="siyuanSongti"/>
              </a:rPr>
              <a:t>01</a:t>
            </a:r>
          </a:p>
        </p:txBody>
      </p:sp>
      <p:sp>
        <p:nvSpPr>
          <p:cNvPr id="7" name="dsl:card-title-1"/>
          <p:cNvSpPr txBox="1"/>
          <p:nvPr/>
        </p:nvSpPr>
        <p:spPr>
          <a:xfrm>
            <a:off x="1524000" y="1285875"/>
            <a:ext cx="4191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noProof="1">
                <a:solidFill>
                  <a:srgbClr val="F8FAFC"/>
                </a:solidFill>
                <a:latin typeface="Oranienbaum"/>
                <a:ea typeface="siyuanSongti"/>
              </a:rPr>
              <a:t>$5芯片上的AI智能体</a:t>
            </a:r>
          </a:p>
        </p:txBody>
      </p:sp>
      <p:sp>
        <p:nvSpPr>
          <p:cNvPr id="8" name="dsl:card-body-1"/>
          <p:cNvSpPr txBox="1"/>
          <p:nvPr/>
        </p:nvSpPr>
        <p:spPr>
          <a:xfrm>
            <a:off x="762000" y="1809750"/>
            <a:ext cx="4953000" cy="152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94A3B8"/>
                </a:solidFill>
                <a:latin typeface="Oranienbaum"/>
                <a:ea typeface="siyuanSongti"/>
              </a:rPr>
              <a:t>完整 ReAct Agent 循环部署在 MCU 级别芯片上，纯C语言实现，无Linux、无Node.js。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sz="1350" noProof="1">
                <a:solidFill>
                  <a:srgbClr val="94A3B8"/>
                </a:solidFill>
                <a:latin typeface="Oranienbaum"/>
                <a:ea typeface="siyuanSongti"/>
              </a:rPr>
              <a:t>在资源极度受限的嵌入式环境中运行大模型工具调用。</a:t>
            </a:r>
          </a:p>
        </p:txBody>
      </p:sp>
      <p:sp>
        <p:nvSpPr>
          <p:cNvPr id="9" name="dsl:card-bg-2"/>
          <p:cNvSpPr/>
          <p:nvPr/>
        </p:nvSpPr>
        <p:spPr>
          <a:xfrm>
            <a:off x="6286500" y="1143000"/>
            <a:ext cx="5334000" cy="2381250"/>
          </a:xfrm>
          <a:prstGeom prst="rect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18823"/>
              </a:srgbClr>
            </a:solidFill>
            <a:prstDash val="solid"/>
          </a:ln>
          <a:effectLst>
            <a:outerShdw blurRad="152400" dist="50800" dir="0">
              <a:srgbClr val="000000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card-num-2"/>
          <p:cNvSpPr txBox="1"/>
          <p:nvPr/>
        </p:nvSpPr>
        <p:spPr>
          <a:xfrm>
            <a:off x="6477000" y="1238250"/>
            <a:ext cx="762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3600" noProof="1">
                <a:solidFill>
                  <a:srgbClr val="00D4AA"/>
                </a:solidFill>
                <a:latin typeface="Oranienbaum"/>
                <a:ea typeface="siyuanSongti"/>
              </a:rPr>
              <a:t>02</a:t>
            </a:r>
          </a:p>
        </p:txBody>
      </p:sp>
      <p:sp>
        <p:nvSpPr>
          <p:cNvPr id="11" name="dsl:card-title-2"/>
          <p:cNvSpPr txBox="1"/>
          <p:nvPr/>
        </p:nvSpPr>
        <p:spPr>
          <a:xfrm>
            <a:off x="7239000" y="1285875"/>
            <a:ext cx="4191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noProof="1">
                <a:solidFill>
                  <a:srgbClr val="F8FAFC"/>
                </a:solidFill>
                <a:latin typeface="Oranienbaum"/>
                <a:ea typeface="siyuanSongti"/>
              </a:rPr>
              <a:t>端侧红外协议编码</a:t>
            </a:r>
          </a:p>
        </p:txBody>
      </p:sp>
      <p:sp>
        <p:nvSpPr>
          <p:cNvPr id="12" name="dsl:card-body-2"/>
          <p:cNvSpPr txBox="1"/>
          <p:nvPr/>
        </p:nvSpPr>
        <p:spPr>
          <a:xfrm>
            <a:off x="6477000" y="1809750"/>
            <a:ext cx="4953000" cy="152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94A3B8"/>
                </a:solidFill>
                <a:latin typeface="Oranienbaum"/>
                <a:ea typeface="siyuanSongti"/>
              </a:rPr>
              <a:t>无需云端码库，红外协议在芯片端直接编码，本地生成主流品牌（美的/格力）控制码。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sz="1350" noProof="1">
                <a:solidFill>
                  <a:srgbClr val="94A3B8"/>
                </a:solidFill>
                <a:latin typeface="Oranienbaum"/>
                <a:ea typeface="siyuanSongti"/>
              </a:rPr>
              <a:t>支持红外学习，最多存储32组自定义码。</a:t>
            </a:r>
          </a:p>
        </p:txBody>
      </p:sp>
      <p:sp>
        <p:nvSpPr>
          <p:cNvPr id="13" name="dsl:card-bg-3"/>
          <p:cNvSpPr/>
          <p:nvPr/>
        </p:nvSpPr>
        <p:spPr>
          <a:xfrm>
            <a:off x="571500" y="3810000"/>
            <a:ext cx="5334000" cy="2381250"/>
          </a:xfrm>
          <a:prstGeom prst="rect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18823"/>
              </a:srgbClr>
            </a:solidFill>
            <a:prstDash val="solid"/>
          </a:ln>
          <a:effectLst>
            <a:outerShdw blurRad="152400" dist="50800" dir="0">
              <a:srgbClr val="000000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card-num-3"/>
          <p:cNvSpPr txBox="1"/>
          <p:nvPr/>
        </p:nvSpPr>
        <p:spPr>
          <a:xfrm>
            <a:off x="762000" y="3905250"/>
            <a:ext cx="762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3600" noProof="1">
                <a:solidFill>
                  <a:srgbClr val="F59E0B"/>
                </a:solidFill>
                <a:latin typeface="Oranienbaum"/>
                <a:ea typeface="siyuanSongti"/>
              </a:rPr>
              <a:t>03</a:t>
            </a:r>
          </a:p>
        </p:txBody>
      </p:sp>
      <p:sp>
        <p:nvSpPr>
          <p:cNvPr id="15" name="dsl:card-title-3"/>
          <p:cNvSpPr txBox="1"/>
          <p:nvPr/>
        </p:nvSpPr>
        <p:spPr>
          <a:xfrm>
            <a:off x="1524000" y="3952875"/>
            <a:ext cx="4191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noProof="1">
                <a:solidFill>
                  <a:srgbClr val="F8FAFC"/>
                </a:solidFill>
                <a:latin typeface="Oranienbaum"/>
                <a:ea typeface="siyuanSongti"/>
              </a:rPr>
              <a:t>软件定义硬件</a:t>
            </a:r>
          </a:p>
        </p:txBody>
      </p:sp>
      <p:sp>
        <p:nvSpPr>
          <p:cNvPr id="16" name="dsl:card-body-3"/>
          <p:cNvSpPr txBox="1"/>
          <p:nvPr/>
        </p:nvSpPr>
        <p:spPr>
          <a:xfrm>
            <a:off x="762000" y="4476750"/>
            <a:ext cx="4953000" cy="152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94A3B8"/>
                </a:solidFill>
                <a:latin typeface="Oranienbaum"/>
                <a:ea typeface="siyuanSongti"/>
              </a:rPr>
              <a:t>新增功能只需注册工具，不改核心逻辑。工具注册表机制让硬件扩展像插件一样简单。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sz="1350" noProof="1">
                <a:solidFill>
                  <a:srgbClr val="94A3B8"/>
                </a:solidFill>
                <a:latin typeface="Oranienbaum"/>
                <a:ea typeface="siyuanSongti"/>
              </a:rPr>
              <a:t>GPIO、红外、灯带、定时任务均可热插拔式扩展。</a:t>
            </a:r>
          </a:p>
        </p:txBody>
      </p:sp>
      <p:sp>
        <p:nvSpPr>
          <p:cNvPr id="17" name="dsl:card-bg-4"/>
          <p:cNvSpPr/>
          <p:nvPr/>
        </p:nvSpPr>
        <p:spPr>
          <a:xfrm>
            <a:off x="6286500" y="3810000"/>
            <a:ext cx="5334000" cy="2381250"/>
          </a:xfrm>
          <a:prstGeom prst="rect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18823"/>
              </a:srgbClr>
            </a:solidFill>
            <a:prstDash val="solid"/>
          </a:ln>
          <a:effectLst>
            <a:outerShdw blurRad="152400" dist="50800" dir="0">
              <a:srgbClr val="000000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card-num-4"/>
          <p:cNvSpPr txBox="1"/>
          <p:nvPr/>
        </p:nvSpPr>
        <p:spPr>
          <a:xfrm>
            <a:off x="6477000" y="3905250"/>
            <a:ext cx="762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3600" noProof="1">
                <a:solidFill>
                  <a:srgbClr val="F59E0B"/>
                </a:solidFill>
                <a:latin typeface="Oranienbaum"/>
                <a:ea typeface="siyuanSongti"/>
              </a:rPr>
              <a:t>04</a:t>
            </a:r>
          </a:p>
        </p:txBody>
      </p:sp>
      <p:sp>
        <p:nvSpPr>
          <p:cNvPr id="19" name="dsl:card-title-4"/>
          <p:cNvSpPr txBox="1"/>
          <p:nvPr/>
        </p:nvSpPr>
        <p:spPr>
          <a:xfrm>
            <a:off x="7239000" y="3952875"/>
            <a:ext cx="4191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noProof="1">
                <a:solidFill>
                  <a:srgbClr val="F8FAFC"/>
                </a:solidFill>
                <a:latin typeface="Oranienbaum"/>
                <a:ea typeface="siyuanSongti"/>
              </a:rPr>
              <a:t>零更换成本</a:t>
            </a:r>
          </a:p>
        </p:txBody>
      </p:sp>
      <p:sp>
        <p:nvSpPr>
          <p:cNvPr id="20" name="dsl:card-body-4"/>
          <p:cNvSpPr txBox="1"/>
          <p:nvPr/>
        </p:nvSpPr>
        <p:spPr>
          <a:xfrm>
            <a:off x="6477000" y="4476750"/>
            <a:ext cx="4953000" cy="152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94A3B8"/>
                </a:solidFill>
                <a:latin typeface="Oranienbaum"/>
                <a:ea typeface="siyuanSongti"/>
              </a:rPr>
              <a:t>兼容所有带红外/继电器接口的存量家电，无需更换任何设备，硬件成本仅约100元。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sz="1350" noProof="1">
                <a:solidFill>
                  <a:srgbClr val="94A3B8"/>
                </a:solidFill>
                <a:latin typeface="Oranienbaum"/>
                <a:ea typeface="siyuanSongti"/>
              </a:rPr>
              <a:t>让传统家电"听懂人话"，而非让用户更换家电。</a:t>
            </a:r>
          </a:p>
        </p:txBody>
      </p:sp>
      <p:sp>
        <p:nvSpPr>
          <p:cNvPr id="21" name="dsl:bottom-line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bottom-tag|s=$caption"/>
          <p:cNvSpPr txBox="1"/>
          <p:nvPr/>
        </p:nvSpPr>
        <p:spPr>
          <a:xfrm>
            <a:off x="571500" y="6572250"/>
            <a:ext cx="1905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94A3B8"/>
                </a:solidFill>
                <a:latin typeface="Oranienbaum"/>
                <a:ea typeface="siyuanSongti"/>
              </a:rPr>
              <a:t>MIMICLAW</a:t>
            </a:r>
          </a:p>
        </p:txBody>
      </p:sp>
      <p:sp>
        <p:nvSpPr>
          <p:cNvPr id="23" name="dsl:bottom-page|s=$caption"/>
          <p:cNvSpPr txBox="1"/>
          <p:nvPr/>
        </p:nvSpPr>
        <p:spPr>
          <a:xfrm>
            <a:off x="10477500" y="657225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1050" noProof="1">
                <a:solidFill>
                  <a:srgbClr val="94A3B8"/>
                </a:solidFill>
                <a:latin typeface="Oranienbaum"/>
                <a:ea typeface="siyuanSongti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accent-bar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 rotWithShape="1">
            <a:gsLst>
              <a:gs pos="0">
                <a:srgbClr val="00D4AA">
                  <a:alpha val="0"/>
                </a:srgbClr>
              </a:gs>
              <a:gs pos="30000">
                <a:srgbClr val="00D4AA"/>
              </a:gs>
              <a:gs pos="70000">
                <a:srgbClr val="00D4AA"/>
              </a:gs>
              <a:gs pos="100000">
                <a:srgbClr val="00D4AA">
                  <a:alpha val="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corner-bar"/>
          <p:cNvSpPr/>
          <p:nvPr/>
        </p:nvSpPr>
        <p:spPr>
          <a:xfrm>
            <a:off x="571500" y="476250"/>
            <a:ext cx="38100" cy="3810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page-title|s=$title"/>
          <p:cNvSpPr txBox="1"/>
          <p:nvPr/>
        </p:nvSpPr>
        <p:spPr>
          <a:xfrm>
            <a:off x="762000" y="457200"/>
            <a:ext cx="571500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400" noProof="1">
                <a:solidFill>
                  <a:srgbClr val="F8FAFC"/>
                </a:solidFill>
                <a:latin typeface="Oranienbaum"/>
                <a:ea typeface="siyuanSongti"/>
              </a:rPr>
              <a:t>应用场景</a:t>
            </a:r>
          </a:p>
        </p:txBody>
      </p:sp>
      <p:sp>
        <p:nvSpPr>
          <p:cNvPr id="5" name="dsl:card-bg-1"/>
          <p:cNvSpPr/>
          <p:nvPr/>
        </p:nvSpPr>
        <p:spPr>
          <a:xfrm>
            <a:off x="571500" y="1143000"/>
            <a:ext cx="2571750" cy="4572000"/>
          </a:xfrm>
          <a:prstGeom prst="rect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18823"/>
              </a:srgbClr>
            </a:solidFill>
            <a:prstDash val="solid"/>
          </a:ln>
          <a:effectLst>
            <a:outerShdw blurRad="152400" dist="50800" dir="0">
              <a:srgbClr val="000000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dsl:card-icon-1|i=fas:house" descr="tmpb4nb62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381125"/>
            <a:ext cx="381000" cy="381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7" name="dsl:card-title-1"/>
          <p:cNvSpPr txBox="1"/>
          <p:nvPr/>
        </p:nvSpPr>
        <p:spPr>
          <a:xfrm>
            <a:off x="762000" y="1905000"/>
            <a:ext cx="219075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F8FAFC"/>
                </a:solidFill>
                <a:latin typeface="Oranienbaum"/>
                <a:ea typeface="siyuanSongti"/>
              </a:rPr>
              <a:t>普通家庭</a:t>
            </a:r>
          </a:p>
        </p:txBody>
      </p:sp>
      <p:sp>
        <p:nvSpPr>
          <p:cNvPr id="8" name="dsl:card-divider-1"/>
          <p:cNvSpPr/>
          <p:nvPr/>
        </p:nvSpPr>
        <p:spPr>
          <a:xfrm>
            <a:off x="762000" y="2286000"/>
            <a:ext cx="476250" cy="1905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card-body-1"/>
          <p:cNvSpPr txBox="1"/>
          <p:nvPr/>
        </p:nvSpPr>
        <p:spPr>
          <a:xfrm>
            <a:off x="762000" y="2476500"/>
            <a:ext cx="2190750" cy="2857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94A3B8"/>
                </a:solidFill>
                <a:latin typeface="Oranienbaum"/>
                <a:ea typeface="siyuanSongti"/>
              </a:rPr>
              <a:t>存量家电智能化，无需更换任何设备。红外空调、传统灯具均可接入统一管控。</a:t>
            </a:r>
          </a:p>
        </p:txBody>
      </p:sp>
      <p:sp>
        <p:nvSpPr>
          <p:cNvPr id="10" name="dsl:card-bg-2"/>
          <p:cNvSpPr/>
          <p:nvPr/>
        </p:nvSpPr>
        <p:spPr>
          <a:xfrm>
            <a:off x="3429000" y="1143000"/>
            <a:ext cx="2571750" cy="4572000"/>
          </a:xfrm>
          <a:prstGeom prst="rect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18823"/>
              </a:srgbClr>
            </a:solidFill>
            <a:prstDash val="solid"/>
          </a:ln>
          <a:effectLst>
            <a:outerShdw blurRad="152400" dist="50800" dir="0">
              <a:srgbClr val="000000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dsl:card-icon-2|i=fas:building" descr="tmpb4nb62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0" y="1381125"/>
            <a:ext cx="381000" cy="381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2" name="dsl:card-title-2"/>
          <p:cNvSpPr txBox="1"/>
          <p:nvPr/>
        </p:nvSpPr>
        <p:spPr>
          <a:xfrm>
            <a:off x="3619500" y="1905000"/>
            <a:ext cx="219075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F8FAFC"/>
                </a:solidFill>
                <a:latin typeface="Oranienbaum"/>
                <a:ea typeface="siyuanSongti"/>
              </a:rPr>
              <a:t>出租房/公寓</a:t>
            </a:r>
          </a:p>
        </p:txBody>
      </p:sp>
      <p:sp>
        <p:nvSpPr>
          <p:cNvPr id="13" name="dsl:card-divider-2"/>
          <p:cNvSpPr/>
          <p:nvPr/>
        </p:nvSpPr>
        <p:spPr>
          <a:xfrm>
            <a:off x="3619500" y="2286000"/>
            <a:ext cx="476250" cy="1905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card-body-2"/>
          <p:cNvSpPr txBox="1"/>
          <p:nvPr/>
        </p:nvSpPr>
        <p:spPr>
          <a:xfrm>
            <a:off x="3619500" y="2476500"/>
            <a:ext cx="2190750" cy="2857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94A3B8"/>
                </a:solidFill>
                <a:latin typeface="Oranienbaum"/>
                <a:ea typeface="siyuanSongti"/>
              </a:rPr>
              <a:t>快速部署，搬离时整体迁移。低投入高灵活，适合租房人群的临时智能化需求。</a:t>
            </a:r>
          </a:p>
        </p:txBody>
      </p:sp>
      <p:sp>
        <p:nvSpPr>
          <p:cNvPr id="15" name="dsl:card-bg-3"/>
          <p:cNvSpPr/>
          <p:nvPr/>
        </p:nvSpPr>
        <p:spPr>
          <a:xfrm>
            <a:off x="6286500" y="1143000"/>
            <a:ext cx="2571750" cy="4572000"/>
          </a:xfrm>
          <a:prstGeom prst="rect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18823"/>
              </a:srgbClr>
            </a:solidFill>
            <a:prstDash val="solid"/>
          </a:ln>
          <a:effectLst>
            <a:outerShdw blurRad="152400" dist="50800" dir="0">
              <a:srgbClr val="000000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sl:card-icon-3|i=fas:hotel" descr="tmpb4nb62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1381125"/>
            <a:ext cx="381000" cy="381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7" name="dsl:card-title-3"/>
          <p:cNvSpPr txBox="1"/>
          <p:nvPr/>
        </p:nvSpPr>
        <p:spPr>
          <a:xfrm>
            <a:off x="6477000" y="1905000"/>
            <a:ext cx="219075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F8FAFC"/>
                </a:solidFill>
                <a:latin typeface="Oranienbaum"/>
                <a:ea typeface="siyuanSongti"/>
              </a:rPr>
              <a:t>酒店客房</a:t>
            </a:r>
          </a:p>
        </p:txBody>
      </p:sp>
      <p:sp>
        <p:nvSpPr>
          <p:cNvPr id="18" name="dsl:card-divider-3"/>
          <p:cNvSpPr/>
          <p:nvPr/>
        </p:nvSpPr>
        <p:spPr>
          <a:xfrm>
            <a:off x="6477000" y="2286000"/>
            <a:ext cx="476250" cy="1905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card-body-3"/>
          <p:cNvSpPr txBox="1"/>
          <p:nvPr/>
        </p:nvSpPr>
        <p:spPr>
          <a:xfrm>
            <a:off x="6477000" y="2476500"/>
            <a:ext cx="2190750" cy="2857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94A3B8"/>
                </a:solidFill>
                <a:latin typeface="Oranienbaum"/>
                <a:ea typeface="siyuanSongti"/>
              </a:rPr>
              <a:t>低成本智能控制改造。批量部署成本低，提升住客体验，无需改造房间电路。</a:t>
            </a:r>
          </a:p>
        </p:txBody>
      </p:sp>
      <p:sp>
        <p:nvSpPr>
          <p:cNvPr id="20" name="dsl:card-bg-4"/>
          <p:cNvSpPr/>
          <p:nvPr/>
        </p:nvSpPr>
        <p:spPr>
          <a:xfrm>
            <a:off x="9144000" y="1143000"/>
            <a:ext cx="2476500" cy="4572000"/>
          </a:xfrm>
          <a:prstGeom prst="rect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18823"/>
              </a:srgbClr>
            </a:solidFill>
            <a:prstDash val="solid"/>
          </a:ln>
          <a:effectLst>
            <a:outerShdw blurRad="152400" dist="50800" dir="0">
              <a:srgbClr val="000000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dsl:card-icon-4|i=fas:heart" descr="tmp7beb70x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0" y="1381125"/>
            <a:ext cx="381000" cy="381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2" name="dsl:card-title-4"/>
          <p:cNvSpPr txBox="1"/>
          <p:nvPr/>
        </p:nvSpPr>
        <p:spPr>
          <a:xfrm>
            <a:off x="9334500" y="1905000"/>
            <a:ext cx="20955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F8FAFC"/>
                </a:solidFill>
                <a:latin typeface="Oranienbaum"/>
                <a:ea typeface="siyuanSongti"/>
              </a:rPr>
              <a:t>养老助残</a:t>
            </a:r>
          </a:p>
        </p:txBody>
      </p:sp>
      <p:sp>
        <p:nvSpPr>
          <p:cNvPr id="23" name="dsl:card-divider-4"/>
          <p:cNvSpPr/>
          <p:nvPr/>
        </p:nvSpPr>
        <p:spPr>
          <a:xfrm>
            <a:off x="9334500" y="2286000"/>
            <a:ext cx="476250" cy="190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sl:card-body-4"/>
          <p:cNvSpPr txBox="1"/>
          <p:nvPr/>
        </p:nvSpPr>
        <p:spPr>
          <a:xfrm>
            <a:off x="9334500" y="2476500"/>
            <a:ext cx="2095500" cy="2857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94A3B8"/>
                </a:solidFill>
                <a:latin typeface="Oranienbaum"/>
                <a:ea typeface="siyuanSongti"/>
              </a:rPr>
              <a:t>自然语言控制，降低使用门槛。老人只需说话即可操控家电，无需学习复杂APP。</a:t>
            </a:r>
          </a:p>
        </p:txBody>
      </p:sp>
      <p:sp>
        <p:nvSpPr>
          <p:cNvPr id="25" name="dsl:bottom-line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l:bottom-tag|s=$caption"/>
          <p:cNvSpPr txBox="1"/>
          <p:nvPr/>
        </p:nvSpPr>
        <p:spPr>
          <a:xfrm>
            <a:off x="571500" y="6572250"/>
            <a:ext cx="1905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94A3B8"/>
                </a:solidFill>
                <a:latin typeface="Oranienbaum"/>
                <a:ea typeface="siyuanSongti"/>
              </a:rPr>
              <a:t>MIMICLAW</a:t>
            </a:r>
          </a:p>
        </p:txBody>
      </p:sp>
      <p:sp>
        <p:nvSpPr>
          <p:cNvPr id="27" name="dsl:bottom-page|s=$caption"/>
          <p:cNvSpPr txBox="1"/>
          <p:nvPr/>
        </p:nvSpPr>
        <p:spPr>
          <a:xfrm>
            <a:off x="10477500" y="657225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1050" noProof="1">
                <a:solidFill>
                  <a:srgbClr val="94A3B8"/>
                </a:solidFill>
                <a:latin typeface="Oranienbaum"/>
                <a:ea typeface="siyuanSongt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accent-bar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 rotWithShape="1">
            <a:gsLst>
              <a:gs pos="0">
                <a:srgbClr val="00D4AA">
                  <a:alpha val="0"/>
                </a:srgbClr>
              </a:gs>
              <a:gs pos="30000">
                <a:srgbClr val="00D4AA"/>
              </a:gs>
              <a:gs pos="70000">
                <a:srgbClr val="00D4AA"/>
              </a:gs>
              <a:gs pos="100000">
                <a:srgbClr val="00D4AA">
                  <a:alpha val="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corner-bar"/>
          <p:cNvSpPr/>
          <p:nvPr/>
        </p:nvSpPr>
        <p:spPr>
          <a:xfrm>
            <a:off x="571500" y="476250"/>
            <a:ext cx="38100" cy="3810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page-title|s=$title"/>
          <p:cNvSpPr txBox="1"/>
          <p:nvPr/>
        </p:nvSpPr>
        <p:spPr>
          <a:xfrm>
            <a:off x="762000" y="457200"/>
            <a:ext cx="571500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400" noProof="1">
                <a:solidFill>
                  <a:srgbClr val="F8FAFC"/>
                </a:solidFill>
                <a:latin typeface="Oranienbaum"/>
                <a:ea typeface="siyuanSongti"/>
              </a:rPr>
              <a:t>总结</a:t>
            </a:r>
          </a:p>
        </p:txBody>
      </p:sp>
      <p:sp>
        <p:nvSpPr>
          <p:cNvPr id="5" name="dsl:section-1-num|s=$kpi"/>
          <p:cNvSpPr txBox="1"/>
          <p:nvPr/>
        </p:nvSpPr>
        <p:spPr>
          <a:xfrm>
            <a:off x="571500" y="1333500"/>
            <a:ext cx="762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3600" noProof="1">
                <a:solidFill>
                  <a:srgbClr val="00D4AA"/>
                </a:solidFill>
                <a:latin typeface="Oranienbaum"/>
                <a:ea typeface="siyuanSongti"/>
              </a:rPr>
              <a:t>01</a:t>
            </a:r>
          </a:p>
        </p:txBody>
      </p:sp>
      <p:sp>
        <p:nvSpPr>
          <p:cNvPr id="6" name="dsl:section-1-title"/>
          <p:cNvSpPr txBox="1"/>
          <p:nvPr/>
        </p:nvSpPr>
        <p:spPr>
          <a:xfrm>
            <a:off x="1333500" y="1381125"/>
            <a:ext cx="4762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800" noProof="1">
                <a:solidFill>
                  <a:srgbClr val="F8FAFC"/>
                </a:solidFill>
                <a:latin typeface="Oranienbaum"/>
                <a:ea typeface="siyuanSongti"/>
              </a:rPr>
              <a:t>我们做了什么</a:t>
            </a:r>
          </a:p>
        </p:txBody>
      </p:sp>
      <p:sp>
        <p:nvSpPr>
          <p:cNvPr id="7" name="dsl:section-1-body"/>
          <p:cNvSpPr txBox="1"/>
          <p:nvPr/>
        </p:nvSpPr>
        <p:spPr>
          <a:xfrm>
            <a:off x="571500" y="1905000"/>
            <a:ext cx="1104900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500" noProof="1">
                <a:solidFill>
                  <a:srgbClr val="94A3B8"/>
                </a:solidFill>
                <a:latin typeface="Oranienbaum"/>
                <a:ea typeface="siyuanSongti"/>
              </a:rPr>
              <a:t>一套用AI让传统家电"听懂人话"的超低成本方案。一块 $5 的 ESP32-S3 芯片，通过纯C嵌入式AI智能体，实现全屋存量家电的统一自然语言管控。</a:t>
            </a:r>
          </a:p>
        </p:txBody>
      </p:sp>
      <p:sp>
        <p:nvSpPr>
          <p:cNvPr id="8" name="dsl:divider-1"/>
          <p:cNvSpPr/>
          <p:nvPr/>
        </p:nvSpPr>
        <p:spPr>
          <a:xfrm>
            <a:off x="571500" y="2667000"/>
            <a:ext cx="11049000" cy="9525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section-2-num|s=$kpiAccent"/>
          <p:cNvSpPr txBox="1"/>
          <p:nvPr/>
        </p:nvSpPr>
        <p:spPr>
          <a:xfrm>
            <a:off x="571500" y="2857500"/>
            <a:ext cx="762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3600" noProof="1">
                <a:solidFill>
                  <a:srgbClr val="F59E0B"/>
                </a:solidFill>
                <a:latin typeface="Oranienbaum"/>
                <a:ea typeface="siyuanSongti"/>
              </a:rPr>
              <a:t>02</a:t>
            </a:r>
          </a:p>
        </p:txBody>
      </p:sp>
      <p:sp>
        <p:nvSpPr>
          <p:cNvPr id="10" name="dsl:section-2-title"/>
          <p:cNvSpPr txBox="1"/>
          <p:nvPr/>
        </p:nvSpPr>
        <p:spPr>
          <a:xfrm>
            <a:off x="1333500" y="2905125"/>
            <a:ext cx="4762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800" noProof="1">
                <a:solidFill>
                  <a:srgbClr val="F8FAFC"/>
                </a:solidFill>
                <a:latin typeface="Oranienbaum"/>
                <a:ea typeface="siyuanSongti"/>
              </a:rPr>
              <a:t>核心优势</a:t>
            </a:r>
          </a:p>
        </p:txBody>
      </p:sp>
      <p:sp>
        <p:nvSpPr>
          <p:cNvPr id="11" name="dsl:section-2-body"/>
          <p:cNvSpPr txBox="1"/>
          <p:nvPr/>
        </p:nvSpPr>
        <p:spPr>
          <a:xfrm>
            <a:off x="571500" y="3429000"/>
            <a:ext cx="1104900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500" noProof="1">
                <a:solidFill>
                  <a:srgbClr val="00D4AA"/>
                </a:solidFill>
                <a:latin typeface="Oranienbaum"/>
                <a:ea typeface="siyuanSongti"/>
              </a:rPr>
              <a:t>$5芯片</a:t>
            </a:r>
            <a:r>
              <a:rPr sz="1500" noProof="1">
                <a:solidFill>
                  <a:srgbClr val="94A3B8"/>
                </a:solidFill>
                <a:latin typeface="Oranienbaum"/>
                <a:ea typeface="siyuanSongti"/>
              </a:rPr>
              <a:t> + </a:t>
            </a:r>
            <a:r>
              <a:rPr sz="1500" noProof="1">
                <a:solidFill>
                  <a:srgbClr val="00D4AA"/>
                </a:solidFill>
                <a:latin typeface="Oranienbaum"/>
                <a:ea typeface="siyuanSongti"/>
              </a:rPr>
              <a:t>自然语言</a:t>
            </a:r>
            <a:r>
              <a:rPr sz="1500" noProof="1">
                <a:solidFill>
                  <a:srgbClr val="94A3B8"/>
                </a:solidFill>
                <a:latin typeface="Oranienbaum"/>
                <a:ea typeface="siyuanSongti"/>
              </a:rPr>
              <a:t> + </a:t>
            </a:r>
            <a:r>
              <a:rPr sz="1500" noProof="1">
                <a:solidFill>
                  <a:srgbClr val="00D4AA"/>
                </a:solidFill>
                <a:latin typeface="Oranienbaum"/>
                <a:ea typeface="siyuanSongti"/>
              </a:rPr>
              <a:t>零更换</a:t>
            </a:r>
            <a:r>
              <a:rPr sz="1500" noProof="1">
                <a:solidFill>
                  <a:srgbClr val="94A3B8"/>
                </a:solidFill>
                <a:latin typeface="Oranienbaum"/>
                <a:ea typeface="siyuanSongti"/>
              </a:rPr>
              <a:t> + </a:t>
            </a:r>
            <a:r>
              <a:rPr sz="1500" noProof="1">
                <a:solidFill>
                  <a:srgbClr val="00D4AA"/>
                </a:solidFill>
                <a:latin typeface="Oranienbaum"/>
                <a:ea typeface="siyuanSongti"/>
              </a:rPr>
              <a:t>可扩展</a:t>
            </a:r>
            <a:r>
              <a:rPr sz="1500" noProof="1">
                <a:solidFill>
                  <a:srgbClr val="94A3B8"/>
                </a:solidFill>
                <a:latin typeface="Oranienbaum"/>
                <a:ea typeface="siyuanSongti"/>
              </a:rPr>
              <a:t> — 总硬件成本约100元，无需更换任何家电，支持红外/继电器/GPIO多模态控制。</a:t>
            </a:r>
          </a:p>
        </p:txBody>
      </p:sp>
      <p:sp>
        <p:nvSpPr>
          <p:cNvPr id="12" name="dsl:divider-2"/>
          <p:cNvSpPr/>
          <p:nvPr/>
        </p:nvSpPr>
        <p:spPr>
          <a:xfrm>
            <a:off x="571500" y="4191000"/>
            <a:ext cx="11049000" cy="9525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section-3-num|s=$kpi"/>
          <p:cNvSpPr txBox="1"/>
          <p:nvPr/>
        </p:nvSpPr>
        <p:spPr>
          <a:xfrm>
            <a:off x="571500" y="4381500"/>
            <a:ext cx="762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3600" noProof="1">
                <a:solidFill>
                  <a:srgbClr val="00D4AA"/>
                </a:solidFill>
                <a:latin typeface="Oranienbaum"/>
                <a:ea typeface="siyuanSongti"/>
              </a:rPr>
              <a:t>03</a:t>
            </a:r>
          </a:p>
        </p:txBody>
      </p:sp>
      <p:sp>
        <p:nvSpPr>
          <p:cNvPr id="14" name="dsl:section-3-title"/>
          <p:cNvSpPr txBox="1"/>
          <p:nvPr/>
        </p:nvSpPr>
        <p:spPr>
          <a:xfrm>
            <a:off x="1333500" y="4429125"/>
            <a:ext cx="4762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800" noProof="1">
                <a:solidFill>
                  <a:srgbClr val="F8FAFC"/>
                </a:solidFill>
                <a:latin typeface="Oranienbaum"/>
                <a:ea typeface="siyuanSongti"/>
              </a:rPr>
              <a:t>当前进展</a:t>
            </a:r>
          </a:p>
        </p:txBody>
      </p:sp>
      <p:sp>
        <p:nvSpPr>
          <p:cNvPr id="15" name="dsl:section-3-body"/>
          <p:cNvSpPr txBox="1"/>
          <p:nvPr/>
        </p:nvSpPr>
        <p:spPr>
          <a:xfrm>
            <a:off x="571500" y="4953000"/>
            <a:ext cx="1104900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500" noProof="1">
                <a:solidFill>
                  <a:srgbClr val="94A3B8"/>
                </a:solidFill>
                <a:latin typeface="Oranienbaum"/>
                <a:ea typeface="siyuanSongti"/>
              </a:rPr>
              <a:t>核心功能已全部完成，固件已编译并在实机验证。MimiClaw 框架、飞书机器人、红外驱动、GPIO控制、OTA升级、定时任务、记忆系统均运行稳定。</a:t>
            </a:r>
          </a:p>
        </p:txBody>
      </p:sp>
      <p:sp>
        <p:nvSpPr>
          <p:cNvPr id="16" name="dsl:kpi-row-bg"/>
          <p:cNvSpPr/>
          <p:nvPr/>
        </p:nvSpPr>
        <p:spPr>
          <a:xfrm>
            <a:off x="571500" y="5715000"/>
            <a:ext cx="11049000" cy="571500"/>
          </a:xfrm>
          <a:prstGeom prst="rect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18823"/>
              </a:srgbClr>
            </a:solidFill>
            <a:prstDash val="solid"/>
          </a:ln>
          <a:effectLst>
            <a:outerShdw blurRad="152400" dist="50800" dir="0">
              <a:srgbClr val="000000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kpi-1"/>
          <p:cNvSpPr txBox="1"/>
          <p:nvPr/>
        </p:nvSpPr>
        <p:spPr>
          <a:xfrm>
            <a:off x="762000" y="5762625"/>
            <a:ext cx="238125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2100" noProof="1">
                <a:solidFill>
                  <a:srgbClr val="00D4AA"/>
                </a:solidFill>
                <a:latin typeface="Oranienbaum"/>
                <a:ea typeface="siyuanSongti"/>
              </a:rPr>
              <a:t>$5</a:t>
            </a:r>
            <a:r>
              <a:rPr sz="1200" noProof="1">
                <a:solidFill>
                  <a:srgbClr val="94A3B8"/>
                </a:solidFill>
                <a:latin typeface="Oranienbaum"/>
                <a:ea typeface="siyuanSongti"/>
              </a:rPr>
              <a:t>  核心芯片</a:t>
            </a:r>
          </a:p>
        </p:txBody>
      </p:sp>
      <p:sp>
        <p:nvSpPr>
          <p:cNvPr id="18" name="dsl:kpi-div-1"/>
          <p:cNvSpPr/>
          <p:nvPr/>
        </p:nvSpPr>
        <p:spPr>
          <a:xfrm>
            <a:off x="3238500" y="5857875"/>
            <a:ext cx="9525" cy="285750"/>
          </a:xfrm>
          <a:prstGeom prst="rect">
            <a:avLst/>
          </a:prstGeom>
          <a:solidFill>
            <a:srgbClr val="FFFFFF">
              <a:alpha val="1882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kpi-2"/>
          <p:cNvSpPr txBox="1"/>
          <p:nvPr/>
        </p:nvSpPr>
        <p:spPr>
          <a:xfrm>
            <a:off x="3429000" y="5762625"/>
            <a:ext cx="238125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2100" noProof="1">
                <a:solidFill>
                  <a:srgbClr val="00D4AA"/>
                </a:solidFill>
                <a:latin typeface="Oranienbaum"/>
                <a:ea typeface="siyuanSongti"/>
              </a:rPr>
              <a:t>~100元</a:t>
            </a:r>
            <a:r>
              <a:rPr sz="1200" noProof="1">
                <a:solidFill>
                  <a:srgbClr val="94A3B8"/>
                </a:solidFill>
                <a:latin typeface="Oranienbaum"/>
                <a:ea typeface="siyuanSongti"/>
              </a:rPr>
              <a:t>  总成本</a:t>
            </a:r>
          </a:p>
        </p:txBody>
      </p:sp>
      <p:sp>
        <p:nvSpPr>
          <p:cNvPr id="20" name="dsl:kpi-div-2"/>
          <p:cNvSpPr/>
          <p:nvPr/>
        </p:nvSpPr>
        <p:spPr>
          <a:xfrm>
            <a:off x="5905500" y="5857875"/>
            <a:ext cx="9525" cy="285750"/>
          </a:xfrm>
          <a:prstGeom prst="rect">
            <a:avLst/>
          </a:prstGeom>
          <a:solidFill>
            <a:srgbClr val="FFFFFF">
              <a:alpha val="1882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kpi-3"/>
          <p:cNvSpPr txBox="1"/>
          <p:nvPr/>
        </p:nvSpPr>
        <p:spPr>
          <a:xfrm>
            <a:off x="6096000" y="5762625"/>
            <a:ext cx="238125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2100" noProof="1">
                <a:solidFill>
                  <a:srgbClr val="F59E0B"/>
                </a:solidFill>
                <a:latin typeface="Oranienbaum"/>
                <a:ea typeface="siyuanSongti"/>
              </a:rPr>
              <a:t>13/15</a:t>
            </a:r>
            <a:r>
              <a:rPr sz="1200" noProof="1">
                <a:solidFill>
                  <a:srgbClr val="94A3B8"/>
                </a:solidFill>
                <a:latin typeface="Oranienbaum"/>
                <a:ea typeface="siyuanSongti"/>
              </a:rPr>
              <a:t>  功能完成</a:t>
            </a:r>
          </a:p>
        </p:txBody>
      </p:sp>
      <p:sp>
        <p:nvSpPr>
          <p:cNvPr id="22" name="dsl:kpi-div-3"/>
          <p:cNvSpPr/>
          <p:nvPr/>
        </p:nvSpPr>
        <p:spPr>
          <a:xfrm>
            <a:off x="8572500" y="5857875"/>
            <a:ext cx="9525" cy="285750"/>
          </a:xfrm>
          <a:prstGeom prst="rect">
            <a:avLst/>
          </a:prstGeom>
          <a:solidFill>
            <a:srgbClr val="FFFFFF">
              <a:alpha val="1882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l:kpi-4"/>
          <p:cNvSpPr txBox="1"/>
          <p:nvPr/>
        </p:nvSpPr>
        <p:spPr>
          <a:xfrm>
            <a:off x="8763000" y="5762625"/>
            <a:ext cx="2667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2100" noProof="1">
                <a:solidFill>
                  <a:srgbClr val="F59E0B"/>
                </a:solidFill>
                <a:latin typeface="Oranienbaum"/>
                <a:ea typeface="siyuanSongti"/>
              </a:rPr>
              <a:t>0元</a:t>
            </a:r>
            <a:r>
              <a:rPr sz="1200" noProof="1">
                <a:solidFill>
                  <a:srgbClr val="94A3B8"/>
                </a:solidFill>
                <a:latin typeface="Oranienbaum"/>
                <a:ea typeface="siyuanSongti"/>
              </a:rPr>
              <a:t>  设备更换</a:t>
            </a:r>
          </a:p>
        </p:txBody>
      </p:sp>
      <p:sp>
        <p:nvSpPr>
          <p:cNvPr id="24" name="dsl:bottom-line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sl:bottom-tag|s=$caption"/>
          <p:cNvSpPr txBox="1"/>
          <p:nvPr/>
        </p:nvSpPr>
        <p:spPr>
          <a:xfrm>
            <a:off x="571500" y="6572250"/>
            <a:ext cx="1905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94A3B8"/>
                </a:solidFill>
                <a:latin typeface="Oranienbaum"/>
                <a:ea typeface="siyuanSongti"/>
              </a:rPr>
              <a:t>MIMICLAW</a:t>
            </a:r>
          </a:p>
        </p:txBody>
      </p:sp>
      <p:sp>
        <p:nvSpPr>
          <p:cNvPr id="26" name="dsl:bottom-page|s=$caption"/>
          <p:cNvSpPr txBox="1"/>
          <p:nvPr/>
        </p:nvSpPr>
        <p:spPr>
          <a:xfrm>
            <a:off x="10477500" y="657225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1050" noProof="1">
                <a:solidFill>
                  <a:srgbClr val="94A3B8"/>
                </a:solidFill>
                <a:latin typeface="Oranienbaum"/>
                <a:ea typeface="siyuanSongt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accent-bar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 rotWithShape="1">
            <a:gsLst>
              <a:gs pos="0">
                <a:srgbClr val="00D4AA">
                  <a:alpha val="0"/>
                </a:srgbClr>
              </a:gs>
              <a:gs pos="30000">
                <a:srgbClr val="00D4AA"/>
              </a:gs>
              <a:gs pos="70000">
                <a:srgbClr val="00D4AA"/>
              </a:gs>
              <a:gs pos="100000">
                <a:srgbClr val="00D4AA">
                  <a:alpha val="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left-glow"/>
          <p:cNvSpPr/>
          <p:nvPr/>
        </p:nvSpPr>
        <p:spPr>
          <a:xfrm>
            <a:off x="0" y="0"/>
            <a:ext cx="476250" cy="6858000"/>
          </a:xfrm>
          <a:prstGeom prst="rect">
            <a:avLst/>
          </a:prstGeom>
          <a:gradFill rotWithShape="1">
            <a:gsLst>
              <a:gs pos="0">
                <a:srgbClr val="00D4AA">
                  <a:alpha val="8235"/>
                </a:srgbClr>
              </a:gs>
              <a:gs pos="100000">
                <a:srgbClr val="00D4AA">
                  <a:alpha val="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dsl:chip-icon|i=fas:microchip" descr="tmp6cubo1w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0" y="1524000"/>
            <a:ext cx="1143000" cy="1143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5" name="dsl:main-thanks|s=$coverTitle"/>
          <p:cNvSpPr txBox="1"/>
          <p:nvPr/>
        </p:nvSpPr>
        <p:spPr>
          <a:xfrm>
            <a:off x="2286000" y="2476500"/>
            <a:ext cx="7620000" cy="762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3600" noProof="1">
                <a:solidFill>
                  <a:srgbClr val="F8FAFC"/>
                </a:solidFill>
                <a:latin typeface="Oranienbaum"/>
                <a:ea typeface="siyuanSongti"/>
              </a:rPr>
              <a:t>感谢聆听</a:t>
            </a:r>
          </a:p>
        </p:txBody>
      </p:sp>
      <p:sp>
        <p:nvSpPr>
          <p:cNvPr id="6" name="dsl:accent-line"/>
          <p:cNvSpPr/>
          <p:nvPr/>
        </p:nvSpPr>
        <p:spPr>
          <a:xfrm>
            <a:off x="5143500" y="3429000"/>
            <a:ext cx="1905000" cy="28575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thanks-body"/>
          <p:cNvSpPr txBox="1"/>
          <p:nvPr/>
        </p:nvSpPr>
        <p:spPr>
          <a:xfrm>
            <a:off x="2286000" y="3714750"/>
            <a:ext cx="76200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80000"/>
              </a:lnSpc>
            </a:pPr>
            <a:r>
              <a:rPr sz="1350" noProof="1">
                <a:solidFill>
                  <a:srgbClr val="94A3B8"/>
                </a:solidFill>
                <a:latin typeface="Oranienbaum"/>
                <a:ea typeface="siyuanSongti"/>
              </a:rPr>
              <a:t>感谢各位评委老师的聆听与指导</a:t>
            </a:r>
          </a:p>
          <a:p>
            <a:pPr algn="ctr">
              <a:lnSpc>
                <a:spcPct val="180000"/>
              </a:lnSpc>
            </a:pPr>
            <a:r>
              <a:rPr sz="1350" noProof="1">
                <a:solidFill>
                  <a:srgbClr val="94A3B8"/>
                </a:solidFill>
                <a:latin typeface="Oranienbaum"/>
                <a:ea typeface="siyuanSongti"/>
              </a:rPr>
              <a:t>感谢乐鑫科技提供的开发板和技术支持</a:t>
            </a:r>
          </a:p>
          <a:p>
            <a:pPr algn="ctr">
              <a:lnSpc>
                <a:spcPct val="180000"/>
              </a:lnSpc>
            </a:pPr>
            <a:r>
              <a:rPr sz="1350" noProof="1">
                <a:solidFill>
                  <a:srgbClr val="94A3B8"/>
                </a:solidFill>
                <a:latin typeface="Oranienbaum"/>
                <a:ea typeface="siyuanSongti"/>
              </a:rPr>
              <a:t>感谢 MimiClaw 开源社区</a:t>
            </a:r>
          </a:p>
        </p:txBody>
      </p:sp>
      <p:sp>
        <p:nvSpPr>
          <p:cNvPr id="8" name="dsl:welcome"/>
          <p:cNvSpPr txBox="1"/>
          <p:nvPr/>
        </p:nvSpPr>
        <p:spPr>
          <a:xfrm>
            <a:off x="3238500" y="5143500"/>
            <a:ext cx="5715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800" noProof="1">
                <a:solidFill>
                  <a:srgbClr val="00D4AA"/>
                </a:solidFill>
                <a:latin typeface="Oranienbaum"/>
                <a:ea typeface="siyuanSongti"/>
              </a:rPr>
              <a:t>欢迎提问！</a:t>
            </a:r>
          </a:p>
        </p:txBody>
      </p:sp>
      <p:sp>
        <p:nvSpPr>
          <p:cNvPr id="9" name="dsl:photo-note"/>
          <p:cNvSpPr txBox="1"/>
          <p:nvPr/>
        </p:nvSpPr>
        <p:spPr>
          <a:xfrm>
            <a:off x="571500" y="6096000"/>
            <a:ext cx="11049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>
                    <a:alpha val="18823"/>
                  </a:srgbClr>
                </a:solidFill>
                <a:latin typeface="Oranienbaum"/>
                <a:ea typeface="siyuanSongti"/>
              </a:rPr>
              <a:t>⚠️ 此处放置作品实物照片（不出现学校名称/校徽）</a:t>
            </a:r>
          </a:p>
        </p:txBody>
      </p:sp>
      <p:sp>
        <p:nvSpPr>
          <p:cNvPr id="10" name="dsl:bottom-line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ottom-tag|s=$caption"/>
          <p:cNvSpPr txBox="1"/>
          <p:nvPr/>
        </p:nvSpPr>
        <p:spPr>
          <a:xfrm>
            <a:off x="571500" y="6572250"/>
            <a:ext cx="1905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94A3B8"/>
                </a:solidFill>
                <a:latin typeface="Oranienbaum"/>
                <a:ea typeface="siyuanSongti"/>
              </a:rPr>
              <a:t>MIMICLAW</a:t>
            </a:r>
          </a:p>
        </p:txBody>
      </p:sp>
      <p:sp>
        <p:nvSpPr>
          <p:cNvPr id="12" name="dsl:bottom-page|s=$caption"/>
          <p:cNvSpPr txBox="1"/>
          <p:nvPr/>
        </p:nvSpPr>
        <p:spPr>
          <a:xfrm>
            <a:off x="10477500" y="657225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1050" noProof="1">
                <a:solidFill>
                  <a:srgbClr val="94A3B8"/>
                </a:solidFill>
                <a:latin typeface="Oranienbaum"/>
                <a:ea typeface="siyuanSongt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00D4AA"/>
    <Color name="secondary" value="#94A3B8"/>
    <Color name="accent" value="#F59E0B"/>
    <Color name="background" value="#0B0F19"/>
    <Color name="surface" value="#111827"/>
    <Color name="text" value="#F8FAFC"/>
    <Color name="muted" value="#334155"/>
  </Colors>
  <TextStyles>
    <TextStyle name="title" font_size="32.0" color="$text" font_family="Oranienbaum, siyuanSongti"/>
    <TextStyle name="coverTitle" font_size="48.0" color="$text" font_family="Oranienbaum, siyuanSongti"/>
    <TextStyle name="subtitle" font_size="22.0" color="$secondary" font_family="Oranienbaum, siyuanSongti"/>
    <TextStyle name="body" font_size="18.0" color="$text" font_family="Oranienbaum, siyuanSongti" line_height="1.6"/>
    <TextStyle name="caption" font_size="14.0" color="$secondary" font_family="Oranienbaum, siyuanSongti"/>
    <TextStyle name="kpi" font_size="48.0" color="$primary" font_family="Oranienbaum, siyuanSongti"/>
    <TextStyle name="kpiAccent" font_size="48.0" color="$accent" font_family="Oranienbaum, siyuanSongti"/>
  </TextStyles>
  <TableStyles>
    <TableStyle name="default" fontSize="16.0" fontFamily="Oranienbaum, siyuanSongti" headerFill="$primary" headerColor="#000000" headerBold="true" bodyFill="$surface,$background" bodyColor="$text" firstColumnBold="false">
      <Border style="solid" width="1.0" color="$muted"/>
    </TableStyle>
  </TableStyles>
</DslMetadata>
</file>

<file path=customXml/itemProps1.xml><?xml version="1.0" encoding="utf-8"?>
<ns0:datastoreItem xmlns:ns0="http://schemas.openxmlformats.org/officeDocument/2006/customXml" ns0:itemID="{16048536-8311-4EB3-B160-B0AD230B835B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